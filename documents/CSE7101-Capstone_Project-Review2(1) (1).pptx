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wholeTbl>
    <a:band2H>
      <a:tcTxStyle/>
      <a:tcStyle>
        <a:tcBdr/>
        <a:fill>
          <a:solidFill>
            <a:srgbClr val="FFFFFF"/>
          </a:solidFill>
        </a:fill>
      </a:tcStyle>
    </a:band2H>
    <a:firstCol>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Col>
    <a:lastRow>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lastRow>
    <a:firstRow>
      <a:tcTxStyle b="off" i="off">
        <a:fontRef idx="minor">
          <a:srgbClr val="000000"/>
        </a:fontRef>
        <a:srgbClr val="000000"/>
      </a:tcTxStyle>
      <a:tcStyle>
        <a:tcBdr>
          <a:left>
            <a:ln w="9525" cap="flat">
              <a:solidFill>
                <a:srgbClr val="000000">
                  <a:alpha val="0"/>
                </a:srgbClr>
              </a:solidFill>
              <a:prstDash val="solid"/>
              <a:round/>
            </a:ln>
          </a:left>
          <a:right>
            <a:ln w="9525" cap="flat">
              <a:solidFill>
                <a:srgbClr val="000000">
                  <a:alpha val="0"/>
                </a:srgbClr>
              </a:solidFill>
              <a:prstDash val="solid"/>
              <a:round/>
            </a:ln>
          </a:right>
          <a:top>
            <a:ln w="9525" cap="flat">
              <a:solidFill>
                <a:srgbClr val="000000">
                  <a:alpha val="0"/>
                </a:srgbClr>
              </a:solidFill>
              <a:prstDash val="solid"/>
              <a:round/>
            </a:ln>
          </a:top>
          <a:bottom>
            <a:ln w="9525" cap="flat">
              <a:solidFill>
                <a:srgbClr val="000000">
                  <a:alpha val="0"/>
                </a:srgbClr>
              </a:solidFill>
              <a:prstDash val="solid"/>
              <a:round/>
            </a:ln>
          </a:bottom>
          <a:insideH>
            <a:ln w="9525" cap="flat">
              <a:solidFill>
                <a:srgbClr val="000000">
                  <a:alpha val="0"/>
                </a:srgbClr>
              </a:solidFill>
              <a:prstDash val="solid"/>
              <a:round/>
            </a:ln>
          </a:insideH>
          <a:insideV>
            <a:ln w="9525" cap="flat">
              <a:solidFill>
                <a:srgbClr val="000000">
                  <a:alpha val="0"/>
                </a:srgbClr>
              </a:solidFill>
              <a:prstDash val="solid"/>
              <a:round/>
            </a:ln>
          </a:insideV>
        </a:tcBdr>
        <a:fill>
          <a:solidFill>
            <a:srgbClr val="FFFFFF">
              <a:alpha val="0"/>
            </a:srgb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notesMaster" Target="notesMasters/notesMaster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5" name="Shape 135"/>
          <p:cNvSpPr>
            <a:spLocks noGrp="1" noRot="1" noChangeAspect="1"/>
          </p:cNvSpPr>
          <p:nvPr>
            <p:ph type="sldImg"/>
          </p:nvPr>
        </p:nvSpPr>
        <p:spPr>
          <a:xfrm>
            <a:off x="1143000" y="685800"/>
            <a:ext cx="4572000" cy="3429000"/>
          </a:xfrm>
          <a:prstGeom prst="rect">
            <a:avLst/>
          </a:prstGeom>
        </p:spPr>
        <p:txBody>
          <a:bodyPr/>
          <a:lstStyle/>
          <a:p>
            <a:endParaRPr/>
          </a:p>
        </p:txBody>
      </p:sp>
      <p:sp>
        <p:nvSpPr>
          <p:cNvPr id="136" name="Shape 13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spTree>
      <p:nvGrpSpPr>
        <p:cNvPr id="1" name=""/>
        <p:cNvGrpSpPr/>
        <p:nvPr/>
      </p:nvGrpSpPr>
      <p:grpSpPr>
        <a:xfrm>
          <a:off x="0" y="0"/>
          <a:ext cx="0" cy="0"/>
          <a:chOff x="0" y="0"/>
          <a:chExt cx="0" cy="0"/>
        </a:xfrm>
      </p:grpSpPr>
      <p:sp>
        <p:nvSpPr>
          <p:cNvPr id="13"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14"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5" name="Title Text"/>
          <p:cNvSpPr txBox="1">
            <a:spLocks noGrp="1"/>
          </p:cNvSpPr>
          <p:nvPr>
            <p:ph type="title"/>
          </p:nvPr>
        </p:nvSpPr>
        <p:spPr>
          <a:xfrm>
            <a:off x="1050877" y="1322386"/>
            <a:ext cx="10363201" cy="1470001"/>
          </a:xfrm>
          <a:prstGeom prst="rect">
            <a:avLst/>
          </a:prstGeom>
        </p:spPr>
        <p:txBody>
          <a:bodyPr/>
          <a:lstStyle/>
          <a:p>
            <a:r>
              <a:t>Title Text</a:t>
            </a:r>
          </a:p>
        </p:txBody>
      </p:sp>
      <p:sp>
        <p:nvSpPr>
          <p:cNvPr id="16" name="Body Level One…"/>
          <p:cNvSpPr txBox="1">
            <a:spLocks noGrp="1"/>
          </p:cNvSpPr>
          <p:nvPr>
            <p:ph type="body" sz="quarter" idx="1"/>
          </p:nvPr>
        </p:nvSpPr>
        <p:spPr>
          <a:xfrm>
            <a:off x="2032000" y="3326641"/>
            <a:ext cx="8534400" cy="1752601"/>
          </a:xfrm>
          <a:prstGeom prst="rect">
            <a:avLst/>
          </a:prstGeom>
        </p:spPr>
        <p:txBody>
          <a:bodyPr/>
          <a:lstStyle>
            <a:lvl1pPr marL="381000" indent="-304800" algn="ctr">
              <a:buClrTx/>
              <a:buSzTx/>
              <a:buFontTx/>
              <a:buNone/>
              <a:defRPr sz="2000" b="1">
                <a:solidFill>
                  <a:srgbClr val="17365D"/>
                </a:solidFill>
              </a:defRPr>
            </a:lvl1pPr>
            <a:lvl2pPr marL="381000" indent="177800" algn="ctr">
              <a:buClrTx/>
              <a:buSzTx/>
              <a:buFontTx/>
              <a:buNone/>
              <a:defRPr sz="2000" b="1">
                <a:solidFill>
                  <a:srgbClr val="17365D"/>
                </a:solidFill>
              </a:defRPr>
            </a:lvl2pPr>
            <a:lvl3pPr marL="381000" indent="647700" algn="ctr">
              <a:buClrTx/>
              <a:buSzTx/>
              <a:buFontTx/>
              <a:buNone/>
              <a:defRPr sz="2000" b="1">
                <a:solidFill>
                  <a:srgbClr val="17365D"/>
                </a:solidFill>
              </a:defRPr>
            </a:lvl3pPr>
            <a:lvl4pPr marL="381000" indent="1117600" algn="ctr">
              <a:buClrTx/>
              <a:buSzTx/>
              <a:buFontTx/>
              <a:buNone/>
              <a:defRPr sz="2000" b="1">
                <a:solidFill>
                  <a:srgbClr val="17365D"/>
                </a:solidFill>
              </a:defRPr>
            </a:lvl4pPr>
            <a:lvl5pPr marL="381000" indent="1574800" algn="ctr">
              <a:buClrTx/>
              <a:buSzTx/>
              <a:buFontTx/>
              <a:buNone/>
              <a:defRPr sz="2000" b="1">
                <a:solidFill>
                  <a:srgbClr val="17365D"/>
                </a:solidFill>
              </a:defRPr>
            </a:lvl5pPr>
          </a:lstStyle>
          <a:p>
            <a:r>
              <a:t>Body Level One</a:t>
            </a:r>
          </a:p>
          <a:p>
            <a:pPr lvl="1"/>
            <a:r>
              <a:t>Body Level Two</a:t>
            </a:r>
          </a:p>
          <a:p>
            <a:pPr lvl="2"/>
            <a:r>
              <a:t>Body Level Three</a:t>
            </a:r>
          </a:p>
          <a:p>
            <a:pPr lvl="3"/>
            <a:r>
              <a:t>Body Level Four</a:t>
            </a:r>
          </a:p>
          <a:p>
            <a:pPr lvl="4"/>
            <a:r>
              <a:t>Body Level Five</a:t>
            </a:r>
          </a:p>
        </p:txBody>
      </p:sp>
      <p:sp>
        <p:nvSpPr>
          <p:cNvPr id="1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24" name="Title Text"/>
          <p:cNvSpPr txBox="1">
            <a:spLocks noGrp="1"/>
          </p:cNvSpPr>
          <p:nvPr>
            <p:ph type="title"/>
          </p:nvPr>
        </p:nvSpPr>
        <p:spPr>
          <a:prstGeom prst="rect">
            <a:avLst/>
          </a:prstGeom>
        </p:spPr>
        <p:txBody>
          <a:bodyPr/>
          <a:lstStyle/>
          <a:p>
            <a:r>
              <a:t>Title Text</a:t>
            </a:r>
          </a:p>
        </p:txBody>
      </p:sp>
      <p:sp>
        <p:nvSpPr>
          <p:cNvPr id="25"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_HEADER">
    <p:spTree>
      <p:nvGrpSpPr>
        <p:cNvPr id="1" name=""/>
        <p:cNvGrpSpPr/>
        <p:nvPr/>
      </p:nvGrpSpPr>
      <p:grpSpPr>
        <a:xfrm>
          <a:off x="0" y="0"/>
          <a:ext cx="0" cy="0"/>
          <a:chOff x="0" y="0"/>
          <a:chExt cx="0" cy="0"/>
        </a:xfrm>
      </p:grpSpPr>
      <p:sp>
        <p:nvSpPr>
          <p:cNvPr id="33"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34"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35" name="Title Text"/>
          <p:cNvSpPr txBox="1">
            <a:spLocks noGrp="1"/>
          </p:cNvSpPr>
          <p:nvPr>
            <p:ph type="title"/>
          </p:nvPr>
        </p:nvSpPr>
        <p:spPr>
          <a:xfrm>
            <a:off x="963084" y="4406903"/>
            <a:ext cx="10363201" cy="1362001"/>
          </a:xfrm>
          <a:prstGeom prst="rect">
            <a:avLst/>
          </a:prstGeom>
        </p:spPr>
        <p:txBody>
          <a:bodyPr anchor="t"/>
          <a:lstStyle>
            <a:lvl1pPr>
              <a:defRPr sz="4000">
                <a:solidFill>
                  <a:srgbClr val="FF0000"/>
                </a:solidFill>
              </a:defRPr>
            </a:lvl1pPr>
          </a:lstStyle>
          <a:p>
            <a:r>
              <a:t>Title Text</a:t>
            </a:r>
          </a:p>
        </p:txBody>
      </p:sp>
      <p:sp>
        <p:nvSpPr>
          <p:cNvPr id="36" name="Body Level One…"/>
          <p:cNvSpPr txBox="1">
            <a:spLocks noGrp="1"/>
          </p:cNvSpPr>
          <p:nvPr>
            <p:ph type="body" sz="quarter" idx="1"/>
          </p:nvPr>
        </p:nvSpPr>
        <p:spPr>
          <a:xfrm>
            <a:off x="963084" y="2906713"/>
            <a:ext cx="10363201" cy="1500301"/>
          </a:xfrm>
          <a:prstGeom prst="rect">
            <a:avLst/>
          </a:prstGeom>
        </p:spPr>
        <p:txBody>
          <a:bodyPr anchor="b"/>
          <a:lstStyle>
            <a:lvl1pPr marL="228600" indent="0">
              <a:buClrTx/>
              <a:buSzTx/>
              <a:buFontTx/>
              <a:buNone/>
              <a:defRPr sz="2000">
                <a:solidFill>
                  <a:srgbClr val="888888"/>
                </a:solidFill>
              </a:defRPr>
            </a:lvl1pPr>
            <a:lvl2pPr marL="228600" indent="457200">
              <a:buClrTx/>
              <a:buSzTx/>
              <a:buFontTx/>
              <a:buNone/>
              <a:defRPr sz="2000">
                <a:solidFill>
                  <a:srgbClr val="888888"/>
                </a:solidFill>
              </a:defRPr>
            </a:lvl2pPr>
            <a:lvl3pPr marL="228600" indent="914400">
              <a:buClrTx/>
              <a:buSzTx/>
              <a:buFontTx/>
              <a:buNone/>
              <a:defRPr sz="2000">
                <a:solidFill>
                  <a:srgbClr val="888888"/>
                </a:solidFill>
              </a:defRPr>
            </a:lvl3pPr>
            <a:lvl4pPr marL="228600" indent="1371600">
              <a:buClrTx/>
              <a:buSzTx/>
              <a:buFontTx/>
              <a:buNone/>
              <a:defRPr sz="2000">
                <a:solidFill>
                  <a:srgbClr val="888888"/>
                </a:solidFill>
              </a:defRPr>
            </a:lvl4pPr>
            <a:lvl5pPr marL="228600" indent="1828800">
              <a:buClrTx/>
              <a:buSzTx/>
              <a:buFontTx/>
              <a:buNone/>
              <a:defRPr sz="20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_OBJECTS">
    <p:spTree>
      <p:nvGrpSpPr>
        <p:cNvPr id="1" name=""/>
        <p:cNvGrpSpPr/>
        <p:nvPr/>
      </p:nvGrpSpPr>
      <p:grpSpPr>
        <a:xfrm>
          <a:off x="0" y="0"/>
          <a:ext cx="0" cy="0"/>
          <a:chOff x="0" y="0"/>
          <a:chExt cx="0" cy="0"/>
        </a:xfrm>
      </p:grpSpPr>
      <p:sp>
        <p:nvSpPr>
          <p:cNvPr id="44"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45"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46" name="Title Text"/>
          <p:cNvSpPr txBox="1">
            <a:spLocks noGrp="1"/>
          </p:cNvSpPr>
          <p:nvPr>
            <p:ph type="title"/>
          </p:nvPr>
        </p:nvSpPr>
        <p:spPr>
          <a:prstGeom prst="rect">
            <a:avLst/>
          </a:prstGeom>
        </p:spPr>
        <p:txBody>
          <a:bodyPr/>
          <a:lstStyle>
            <a:lvl1pPr>
              <a:defRPr>
                <a:solidFill>
                  <a:srgbClr val="FF0000"/>
                </a:solidFill>
              </a:defRPr>
            </a:lvl1pPr>
          </a:lstStyle>
          <a:p>
            <a:r>
              <a:t>Title Text</a:t>
            </a:r>
          </a:p>
        </p:txBody>
      </p:sp>
      <p:sp>
        <p:nvSpPr>
          <p:cNvPr id="47" name="Body Level One…"/>
          <p:cNvSpPr txBox="1">
            <a:spLocks noGrp="1"/>
          </p:cNvSpPr>
          <p:nvPr>
            <p:ph type="body" sz="half" idx="1"/>
          </p:nvPr>
        </p:nvSpPr>
        <p:spPr>
          <a:xfrm>
            <a:off x="609600" y="1600203"/>
            <a:ext cx="5384701" cy="4526101"/>
          </a:xfrm>
          <a:prstGeom prst="rect">
            <a:avLst/>
          </a:prstGeom>
        </p:spPr>
        <p:txBody>
          <a:bodyPr/>
          <a:lstStyle>
            <a:lvl1pPr indent="-406400">
              <a:spcBef>
                <a:spcPts val="500"/>
              </a:spcBef>
              <a:buSzPts val="2800"/>
              <a:defRPr sz="2800"/>
            </a:lvl1pPr>
            <a:lvl2pPr marL="977900" indent="-444500">
              <a:spcBef>
                <a:spcPts val="500"/>
              </a:spcBef>
              <a:buSzPts val="2800"/>
              <a:defRPr sz="2800"/>
            </a:lvl2pPr>
            <a:lvl3pPr marL="1513839" indent="-497839">
              <a:spcBef>
                <a:spcPts val="500"/>
              </a:spcBef>
              <a:buSzPts val="2800"/>
              <a:defRPr sz="2800"/>
            </a:lvl3pPr>
            <a:lvl4pPr marL="2019300" indent="-533400">
              <a:spcBef>
                <a:spcPts val="500"/>
              </a:spcBef>
              <a:buSzPts val="2800"/>
              <a:defRPr sz="2800"/>
            </a:lvl4pPr>
            <a:lvl5pPr marL="2476500" indent="-533400">
              <a:spcBef>
                <a:spcPts val="500"/>
              </a:spcBef>
              <a:buSzPts val="2800"/>
              <a:defRPr sz="2800"/>
            </a:lvl5pPr>
          </a:lstStyle>
          <a:p>
            <a:r>
              <a:t>Body Level One</a:t>
            </a:r>
          </a:p>
          <a:p>
            <a:pPr lvl="1"/>
            <a:r>
              <a:t>Body Level Two</a:t>
            </a:r>
          </a:p>
          <a:p>
            <a:pPr lvl="2"/>
            <a:r>
              <a:t>Body Level Three</a:t>
            </a:r>
          </a:p>
          <a:p>
            <a:pPr lvl="3"/>
            <a:r>
              <a:t>Body Level Four</a:t>
            </a:r>
          </a:p>
          <a:p>
            <a:pPr lvl="4"/>
            <a:r>
              <a:t>Body Level Five</a:t>
            </a:r>
          </a:p>
        </p:txBody>
      </p:sp>
      <p:sp>
        <p:nvSpPr>
          <p:cNvPr id="48" name="Google Shape;34;p5"/>
          <p:cNvSpPr txBox="1">
            <a:spLocks noGrp="1"/>
          </p:cNvSpPr>
          <p:nvPr>
            <p:ph type="body" sz="half" idx="21"/>
          </p:nvPr>
        </p:nvSpPr>
        <p:spPr>
          <a:xfrm>
            <a:off x="6197599" y="1600202"/>
            <a:ext cx="5384702" cy="4526102"/>
          </a:xfrm>
          <a:prstGeom prst="rect">
            <a:avLst/>
          </a:prstGeom>
        </p:spPr>
        <p:txBody>
          <a:bodyPr/>
          <a:lstStyle/>
          <a:p>
            <a:pPr indent="-406400">
              <a:spcBef>
                <a:spcPts val="500"/>
              </a:spcBef>
              <a:buSzPts val="2800"/>
              <a:defRPr sz="2800"/>
            </a:pPr>
            <a:endParaRP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WO_OBJECTS_WITH_TEXT">
    <p:spTree>
      <p:nvGrpSpPr>
        <p:cNvPr id="1" name=""/>
        <p:cNvGrpSpPr/>
        <p:nvPr/>
      </p:nvGrpSpPr>
      <p:grpSpPr>
        <a:xfrm>
          <a:off x="0" y="0"/>
          <a:ext cx="0" cy="0"/>
          <a:chOff x="0" y="0"/>
          <a:chExt cx="0" cy="0"/>
        </a:xfrm>
      </p:grpSpPr>
      <p:sp>
        <p:nvSpPr>
          <p:cNvPr id="56"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57"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58" name="Title Text"/>
          <p:cNvSpPr txBox="1">
            <a:spLocks noGrp="1"/>
          </p:cNvSpPr>
          <p:nvPr>
            <p:ph type="title"/>
          </p:nvPr>
        </p:nvSpPr>
        <p:spPr>
          <a:xfrm>
            <a:off x="859367" y="304800"/>
            <a:ext cx="10668001" cy="487500"/>
          </a:xfrm>
          <a:prstGeom prst="rect">
            <a:avLst/>
          </a:prstGeom>
        </p:spPr>
        <p:txBody>
          <a:bodyPr/>
          <a:lstStyle>
            <a:lvl1pPr>
              <a:defRPr>
                <a:solidFill>
                  <a:srgbClr val="FF0000"/>
                </a:solidFill>
              </a:defRPr>
            </a:lvl1pPr>
          </a:lstStyle>
          <a:p>
            <a:r>
              <a:t>Title Text</a:t>
            </a:r>
          </a:p>
        </p:txBody>
      </p:sp>
      <p:sp>
        <p:nvSpPr>
          <p:cNvPr id="59" name="Body Level One…"/>
          <p:cNvSpPr txBox="1">
            <a:spLocks noGrp="1"/>
          </p:cNvSpPr>
          <p:nvPr>
            <p:ph type="body" sz="quarter" idx="1"/>
          </p:nvPr>
        </p:nvSpPr>
        <p:spPr>
          <a:xfrm>
            <a:off x="609600" y="1535112"/>
            <a:ext cx="5386800" cy="639901"/>
          </a:xfrm>
          <a:prstGeom prst="rect">
            <a:avLst/>
          </a:prstGeom>
        </p:spPr>
        <p:txBody>
          <a:bodyPr anchor="b"/>
          <a:lstStyle>
            <a:lvl1pPr marL="228600" indent="0">
              <a:buClrTx/>
              <a:buSzTx/>
              <a:buFontTx/>
              <a:buNone/>
              <a:defRPr b="1"/>
            </a:lvl1pPr>
            <a:lvl2pPr marL="228600" indent="457200">
              <a:buClrTx/>
              <a:buSzTx/>
              <a:buFontTx/>
              <a:buNone/>
              <a:defRPr b="1"/>
            </a:lvl2pPr>
            <a:lvl3pPr marL="228600" indent="914400">
              <a:buClrTx/>
              <a:buSzTx/>
              <a:buFontTx/>
              <a:buNone/>
              <a:defRPr b="1"/>
            </a:lvl3pPr>
            <a:lvl4pPr marL="228600" indent="1371600">
              <a:buClrTx/>
              <a:buSzTx/>
              <a:buFontTx/>
              <a:buNone/>
              <a:defRPr b="1"/>
            </a:lvl4pPr>
            <a:lvl5pPr marL="228600" indent="1828800">
              <a:buClrTx/>
              <a:buSzTx/>
              <a:buFontTx/>
              <a:buNone/>
              <a:defRPr b="1"/>
            </a:lvl5pPr>
          </a:lstStyle>
          <a:p>
            <a:r>
              <a:t>Body Level One</a:t>
            </a:r>
          </a:p>
          <a:p>
            <a:pPr lvl="1"/>
            <a:r>
              <a:t>Body Level Two</a:t>
            </a:r>
          </a:p>
          <a:p>
            <a:pPr lvl="2"/>
            <a:r>
              <a:t>Body Level Three</a:t>
            </a:r>
          </a:p>
          <a:p>
            <a:pPr lvl="3"/>
            <a:r>
              <a:t>Body Level Four</a:t>
            </a:r>
          </a:p>
          <a:p>
            <a:pPr lvl="4"/>
            <a:r>
              <a:t>Body Level Five</a:t>
            </a:r>
          </a:p>
        </p:txBody>
      </p:sp>
      <p:sp>
        <p:nvSpPr>
          <p:cNvPr id="60" name="Google Shape;41;p6"/>
          <p:cNvSpPr txBox="1">
            <a:spLocks noGrp="1"/>
          </p:cNvSpPr>
          <p:nvPr>
            <p:ph type="body" sz="half" idx="21"/>
          </p:nvPr>
        </p:nvSpPr>
        <p:spPr>
          <a:xfrm>
            <a:off x="609599" y="2174875"/>
            <a:ext cx="5386802" cy="3951300"/>
          </a:xfrm>
          <a:prstGeom prst="rect">
            <a:avLst/>
          </a:prstGeom>
        </p:spPr>
        <p:txBody>
          <a:bodyPr/>
          <a:lstStyle/>
          <a:p>
            <a:endParaRPr/>
          </a:p>
        </p:txBody>
      </p:sp>
      <p:sp>
        <p:nvSpPr>
          <p:cNvPr id="61" name="Google Shape;42;p6"/>
          <p:cNvSpPr txBox="1">
            <a:spLocks noGrp="1"/>
          </p:cNvSpPr>
          <p:nvPr>
            <p:ph type="body" sz="quarter" idx="22"/>
          </p:nvPr>
        </p:nvSpPr>
        <p:spPr>
          <a:xfrm>
            <a:off x="6193368" y="1535112"/>
            <a:ext cx="5388901" cy="639901"/>
          </a:xfrm>
          <a:prstGeom prst="rect">
            <a:avLst/>
          </a:prstGeom>
        </p:spPr>
        <p:txBody>
          <a:bodyPr anchor="b"/>
          <a:lstStyle/>
          <a:p>
            <a:pPr marL="228600" indent="0">
              <a:buClrTx/>
              <a:buSzTx/>
              <a:buFontTx/>
              <a:buNone/>
              <a:defRPr b="1"/>
            </a:pPr>
            <a:endParaRPr/>
          </a:p>
        </p:txBody>
      </p:sp>
      <p:sp>
        <p:nvSpPr>
          <p:cNvPr id="62" name="Google Shape;43;p6"/>
          <p:cNvSpPr txBox="1">
            <a:spLocks noGrp="1"/>
          </p:cNvSpPr>
          <p:nvPr>
            <p:ph type="body" sz="half" idx="23"/>
          </p:nvPr>
        </p:nvSpPr>
        <p:spPr>
          <a:xfrm>
            <a:off x="6193368" y="2174875"/>
            <a:ext cx="5388901" cy="3951300"/>
          </a:xfrm>
          <a:prstGeom prst="rect">
            <a:avLst/>
          </a:prstGeom>
        </p:spPr>
        <p:txBody>
          <a:bodyPr/>
          <a:lstStyle/>
          <a:p>
            <a:endParaRP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ITLE_ONLY">
    <p:spTree>
      <p:nvGrpSpPr>
        <p:cNvPr id="1" name=""/>
        <p:cNvGrpSpPr/>
        <p:nvPr/>
      </p:nvGrpSpPr>
      <p:grpSpPr>
        <a:xfrm>
          <a:off x="0" y="0"/>
          <a:ext cx="0" cy="0"/>
          <a:chOff x="0" y="0"/>
          <a:chExt cx="0" cy="0"/>
        </a:xfrm>
      </p:grpSpPr>
      <p:sp>
        <p:nvSpPr>
          <p:cNvPr id="70"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71"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72" name="Title Text"/>
          <p:cNvSpPr txBox="1">
            <a:spLocks noGrp="1"/>
          </p:cNvSpPr>
          <p:nvPr>
            <p:ph type="title"/>
          </p:nvPr>
        </p:nvSpPr>
        <p:spPr>
          <a:xfrm>
            <a:off x="3860800" y="274638"/>
            <a:ext cx="7721700" cy="487501"/>
          </a:xfrm>
          <a:prstGeom prst="rect">
            <a:avLst/>
          </a:prstGeom>
        </p:spPr>
        <p:txBody>
          <a:bodyPr/>
          <a:lstStyle>
            <a:lvl1pPr>
              <a:defRPr>
                <a:solidFill>
                  <a:srgbClr val="FF0000"/>
                </a:solidFill>
              </a:defRPr>
            </a:lvl1pPr>
          </a:lstStyle>
          <a:p>
            <a:r>
              <a:t>Title Text</a:t>
            </a:r>
          </a:p>
        </p:txBody>
      </p:sp>
      <p:pic>
        <p:nvPicPr>
          <p:cNvPr id="73" name="Google Shape;52;p7" descr="Google Shape;52;p7"/>
          <p:cNvPicPr>
            <a:picLocks noChangeAspect="1"/>
          </p:cNvPicPr>
          <p:nvPr/>
        </p:nvPicPr>
        <p:blipFill>
          <a:blip r:embed="rId3"/>
          <a:stretch>
            <a:fillRect/>
          </a:stretch>
        </p:blipFill>
        <p:spPr>
          <a:xfrm>
            <a:off x="2505208" y="139873"/>
            <a:ext cx="9686795" cy="698327"/>
          </a:xfrm>
          <a:prstGeom prst="rect">
            <a:avLst/>
          </a:prstGeom>
          <a:ln w="12700">
            <a:miter lim="400000"/>
          </a:ln>
        </p:spPr>
      </p:pic>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81"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82"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OBJECT_WITH_CAPTION_TEXT">
    <p:spTree>
      <p:nvGrpSpPr>
        <p:cNvPr id="1" name=""/>
        <p:cNvGrpSpPr/>
        <p:nvPr/>
      </p:nvGrpSpPr>
      <p:grpSpPr>
        <a:xfrm>
          <a:off x="0" y="0"/>
          <a:ext cx="0" cy="0"/>
          <a:chOff x="0" y="0"/>
          <a:chExt cx="0" cy="0"/>
        </a:xfrm>
      </p:grpSpPr>
      <p:sp>
        <p:nvSpPr>
          <p:cNvPr id="90"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91"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92" name="Title Text"/>
          <p:cNvSpPr txBox="1">
            <a:spLocks noGrp="1"/>
          </p:cNvSpPr>
          <p:nvPr>
            <p:ph type="title"/>
          </p:nvPr>
        </p:nvSpPr>
        <p:spPr>
          <a:xfrm>
            <a:off x="609601" y="273050"/>
            <a:ext cx="4011002" cy="1162200"/>
          </a:xfrm>
          <a:prstGeom prst="rect">
            <a:avLst/>
          </a:prstGeom>
        </p:spPr>
        <p:txBody>
          <a:bodyPr anchor="b"/>
          <a:lstStyle>
            <a:lvl1pPr>
              <a:defRPr sz="2000">
                <a:solidFill>
                  <a:srgbClr val="FF0000"/>
                </a:solidFill>
              </a:defRPr>
            </a:lvl1pPr>
          </a:lstStyle>
          <a:p>
            <a:r>
              <a:t>Title Text</a:t>
            </a:r>
          </a:p>
        </p:txBody>
      </p:sp>
      <p:sp>
        <p:nvSpPr>
          <p:cNvPr id="93" name="Body Level One…"/>
          <p:cNvSpPr txBox="1">
            <a:spLocks noGrp="1"/>
          </p:cNvSpPr>
          <p:nvPr>
            <p:ph type="body" idx="1"/>
          </p:nvPr>
        </p:nvSpPr>
        <p:spPr>
          <a:xfrm>
            <a:off x="4766733" y="273053"/>
            <a:ext cx="6815701" cy="5853001"/>
          </a:xfrm>
          <a:prstGeom prst="rect">
            <a:avLst/>
          </a:prstGeom>
        </p:spPr>
        <p:txBody>
          <a:bodyPr/>
          <a:lstStyle>
            <a:lvl1pPr indent="-431800">
              <a:spcBef>
                <a:spcPts val="600"/>
              </a:spcBef>
              <a:buSzPts val="3200"/>
              <a:defRPr sz="3200"/>
            </a:lvl1pPr>
            <a:lvl2pPr marL="972457" indent="-464457">
              <a:spcBef>
                <a:spcPts val="600"/>
              </a:spcBef>
              <a:buSzPts val="3200"/>
              <a:defRPr sz="3200"/>
            </a:lvl2pPr>
            <a:lvl3pPr marL="1498600" indent="-508000">
              <a:spcBef>
                <a:spcPts val="600"/>
              </a:spcBef>
              <a:buSzPts val="3200"/>
              <a:defRPr sz="3200"/>
            </a:lvl3pPr>
            <a:lvl4pPr marL="2042160" indent="-568960">
              <a:spcBef>
                <a:spcPts val="600"/>
              </a:spcBef>
              <a:buSzPts val="3200"/>
              <a:defRPr sz="3200"/>
            </a:lvl4pPr>
            <a:lvl5pPr marL="2499360" indent="-568960">
              <a:spcBef>
                <a:spcPts val="600"/>
              </a:spcBef>
              <a:buSzPts val="3200"/>
              <a:defRPr sz="3200"/>
            </a:lvl5pPr>
          </a:lstStyle>
          <a:p>
            <a:r>
              <a:t>Body Level One</a:t>
            </a:r>
          </a:p>
          <a:p>
            <a:pPr lvl="1"/>
            <a:r>
              <a:t>Body Level Two</a:t>
            </a:r>
          </a:p>
          <a:p>
            <a:pPr lvl="2"/>
            <a:r>
              <a:t>Body Level Three</a:t>
            </a:r>
          </a:p>
          <a:p>
            <a:pPr lvl="3"/>
            <a:r>
              <a:t>Body Level Four</a:t>
            </a:r>
          </a:p>
          <a:p>
            <a:pPr lvl="4"/>
            <a:r>
              <a:t>Body Level Five</a:t>
            </a:r>
          </a:p>
        </p:txBody>
      </p:sp>
      <p:sp>
        <p:nvSpPr>
          <p:cNvPr id="94" name="Google Shape;60;p9"/>
          <p:cNvSpPr txBox="1">
            <a:spLocks noGrp="1"/>
          </p:cNvSpPr>
          <p:nvPr>
            <p:ph type="body" sz="half" idx="21"/>
          </p:nvPr>
        </p:nvSpPr>
        <p:spPr>
          <a:xfrm>
            <a:off x="609601" y="1435102"/>
            <a:ext cx="4011002" cy="4691102"/>
          </a:xfrm>
          <a:prstGeom prst="rect">
            <a:avLst/>
          </a:prstGeom>
        </p:spPr>
        <p:txBody>
          <a:bodyPr/>
          <a:lstStyle/>
          <a:p>
            <a:pPr marL="228600" indent="0">
              <a:spcBef>
                <a:spcPts val="200"/>
              </a:spcBef>
              <a:buClrTx/>
              <a:buSzTx/>
              <a:buFontTx/>
              <a:buNone/>
              <a:defRPr sz="1400"/>
            </a:pPr>
            <a:endParaRP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PICTURE_WITH_CAPTION_TEXT">
    <p:spTree>
      <p:nvGrpSpPr>
        <p:cNvPr id="1" name=""/>
        <p:cNvGrpSpPr/>
        <p:nvPr/>
      </p:nvGrpSpPr>
      <p:grpSpPr>
        <a:xfrm>
          <a:off x="0" y="0"/>
          <a:ext cx="0" cy="0"/>
          <a:chOff x="0" y="0"/>
          <a:chExt cx="0" cy="0"/>
        </a:xfrm>
      </p:grpSpPr>
      <p:sp>
        <p:nvSpPr>
          <p:cNvPr id="102"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103"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04" name="Title Text"/>
          <p:cNvSpPr txBox="1">
            <a:spLocks noGrp="1"/>
          </p:cNvSpPr>
          <p:nvPr>
            <p:ph type="title"/>
          </p:nvPr>
        </p:nvSpPr>
        <p:spPr>
          <a:xfrm>
            <a:off x="2389716" y="4800600"/>
            <a:ext cx="7315201" cy="566701"/>
          </a:xfrm>
          <a:prstGeom prst="rect">
            <a:avLst/>
          </a:prstGeom>
        </p:spPr>
        <p:txBody>
          <a:bodyPr anchor="b"/>
          <a:lstStyle>
            <a:lvl1pPr>
              <a:defRPr sz="2000">
                <a:solidFill>
                  <a:srgbClr val="FF0000"/>
                </a:solidFill>
              </a:defRPr>
            </a:lvl1pPr>
          </a:lstStyle>
          <a:p>
            <a:r>
              <a:t>Title Text</a:t>
            </a:r>
          </a:p>
        </p:txBody>
      </p:sp>
      <p:sp>
        <p:nvSpPr>
          <p:cNvPr id="105" name="Google Shape;66;p10"/>
          <p:cNvSpPr>
            <a:spLocks noGrp="1"/>
          </p:cNvSpPr>
          <p:nvPr>
            <p:ph type="pic" sz="half" idx="21"/>
          </p:nvPr>
        </p:nvSpPr>
        <p:spPr>
          <a:xfrm>
            <a:off x="2389716" y="612775"/>
            <a:ext cx="7315201" cy="4114800"/>
          </a:xfrm>
          <a:prstGeom prst="rect">
            <a:avLst/>
          </a:prstGeom>
        </p:spPr>
        <p:txBody>
          <a:bodyPr lIns="91439" tIns="45719" rIns="91439" bIns="45719">
            <a:noAutofit/>
          </a:bodyPr>
          <a:lstStyle/>
          <a:p>
            <a:endParaRPr/>
          </a:p>
        </p:txBody>
      </p:sp>
      <p:sp>
        <p:nvSpPr>
          <p:cNvPr id="106" name="Body Level One…"/>
          <p:cNvSpPr txBox="1">
            <a:spLocks noGrp="1"/>
          </p:cNvSpPr>
          <p:nvPr>
            <p:ph type="body" sz="quarter" idx="1"/>
          </p:nvPr>
        </p:nvSpPr>
        <p:spPr>
          <a:xfrm>
            <a:off x="2389716" y="5367337"/>
            <a:ext cx="7315201" cy="804901"/>
          </a:xfrm>
          <a:prstGeom prst="rect">
            <a:avLst/>
          </a:prstGeom>
        </p:spPr>
        <p:txBody>
          <a:bodyPr/>
          <a:lstStyle>
            <a:lvl1pPr marL="228600" indent="0">
              <a:spcBef>
                <a:spcPts val="200"/>
              </a:spcBef>
              <a:buClrTx/>
              <a:buSzTx/>
              <a:buFontTx/>
              <a:buNone/>
              <a:defRPr sz="1400"/>
            </a:lvl1pPr>
            <a:lvl2pPr marL="228600" indent="457200">
              <a:spcBef>
                <a:spcPts val="200"/>
              </a:spcBef>
              <a:buClrTx/>
              <a:buSzTx/>
              <a:buFontTx/>
              <a:buNone/>
              <a:defRPr sz="1400"/>
            </a:lvl2pPr>
            <a:lvl3pPr marL="228600" indent="914400">
              <a:spcBef>
                <a:spcPts val="200"/>
              </a:spcBef>
              <a:buClrTx/>
              <a:buSzTx/>
              <a:buFontTx/>
              <a:buNone/>
              <a:defRPr sz="1400"/>
            </a:lvl3pPr>
            <a:lvl4pPr marL="228600" indent="1371600">
              <a:spcBef>
                <a:spcPts val="200"/>
              </a:spcBef>
              <a:buClrTx/>
              <a:buSzTx/>
              <a:buFontTx/>
              <a:buNone/>
              <a:defRPr sz="1400"/>
            </a:lvl4pPr>
            <a:lvl5pPr marL="228600" indent="1828800">
              <a:spcBef>
                <a:spcPts val="200"/>
              </a:spcBef>
              <a:buClrTx/>
              <a:buSzTx/>
              <a:buFontTx/>
              <a:buNone/>
              <a:defRPr sz="1400"/>
            </a:lvl5pPr>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VERTICAL_TEXT">
    <p:spTree>
      <p:nvGrpSpPr>
        <p:cNvPr id="1" name=""/>
        <p:cNvGrpSpPr/>
        <p:nvPr/>
      </p:nvGrpSpPr>
      <p:grpSpPr>
        <a:xfrm>
          <a:off x="0" y="0"/>
          <a:ext cx="0" cy="0"/>
          <a:chOff x="0" y="0"/>
          <a:chExt cx="0" cy="0"/>
        </a:xfrm>
      </p:grpSpPr>
      <p:sp>
        <p:nvSpPr>
          <p:cNvPr id="114"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115"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16" name="Title Text"/>
          <p:cNvSpPr txBox="1">
            <a:spLocks noGrp="1"/>
          </p:cNvSpPr>
          <p:nvPr>
            <p:ph type="title"/>
          </p:nvPr>
        </p:nvSpPr>
        <p:spPr>
          <a:prstGeom prst="rect">
            <a:avLst/>
          </a:prstGeom>
        </p:spPr>
        <p:txBody>
          <a:bodyPr/>
          <a:lstStyle>
            <a:lvl1pPr>
              <a:defRPr>
                <a:solidFill>
                  <a:srgbClr val="FF0000"/>
                </a:solidFill>
              </a:defRPr>
            </a:lvl1pPr>
          </a:lstStyle>
          <a:p>
            <a:r>
              <a:t>Title Text</a:t>
            </a:r>
          </a:p>
        </p:txBody>
      </p:sp>
      <p:sp>
        <p:nvSpPr>
          <p:cNvPr id="117" name="Body Level One…"/>
          <p:cNvSpPr txBox="1">
            <a:spLocks noGrp="1"/>
          </p:cNvSpPr>
          <p:nvPr>
            <p:ph type="body" idx="1"/>
          </p:nvPr>
        </p:nvSpPr>
        <p:spPr>
          <a:xfrm rot="5400000">
            <a:off x="3670300" y="-1714500"/>
            <a:ext cx="4953000" cy="106680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VERTICAL_TITLE_AND_VERTICAL_TEXT">
    <p:spTree>
      <p:nvGrpSpPr>
        <p:cNvPr id="1" name=""/>
        <p:cNvGrpSpPr/>
        <p:nvPr/>
      </p:nvGrpSpPr>
      <p:grpSpPr>
        <a:xfrm>
          <a:off x="0" y="0"/>
          <a:ext cx="0" cy="0"/>
          <a:chOff x="0" y="0"/>
          <a:chExt cx="0" cy="0"/>
        </a:xfrm>
      </p:grpSpPr>
      <p:sp>
        <p:nvSpPr>
          <p:cNvPr id="125"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126" name="Google Shape;12;p1" descr="Google Shape;12;p1"/>
          <p:cNvPicPr>
            <a:picLocks noChangeAspect="1"/>
          </p:cNvPicPr>
          <p:nvPr/>
        </p:nvPicPr>
        <p:blipFill>
          <a:blip r:embed="rId2"/>
          <a:srcRect b="18046"/>
          <a:stretch>
            <a:fillRect/>
          </a:stretch>
        </p:blipFill>
        <p:spPr>
          <a:xfrm>
            <a:off x="0" y="5991366"/>
            <a:ext cx="12192001" cy="866634"/>
          </a:xfrm>
          <a:prstGeom prst="rect">
            <a:avLst/>
          </a:prstGeom>
          <a:ln w="12700">
            <a:miter lim="400000"/>
          </a:ln>
        </p:spPr>
      </p:pic>
      <p:sp>
        <p:nvSpPr>
          <p:cNvPr id="127" name="Title Text"/>
          <p:cNvSpPr txBox="1">
            <a:spLocks noGrp="1"/>
          </p:cNvSpPr>
          <p:nvPr>
            <p:ph type="title"/>
          </p:nvPr>
        </p:nvSpPr>
        <p:spPr>
          <a:xfrm rot="5400000">
            <a:off x="7285049" y="1828791"/>
            <a:ext cx="5851501" cy="2743201"/>
          </a:xfrm>
          <a:prstGeom prst="rect">
            <a:avLst/>
          </a:prstGeom>
        </p:spPr>
        <p:txBody>
          <a:bodyPr/>
          <a:lstStyle>
            <a:lvl1pPr>
              <a:defRPr>
                <a:solidFill>
                  <a:srgbClr val="FF0000"/>
                </a:solidFill>
              </a:defRPr>
            </a:lvl1pPr>
          </a:lstStyle>
          <a:p>
            <a:r>
              <a:t>Title Text</a:t>
            </a:r>
          </a:p>
        </p:txBody>
      </p:sp>
      <p:sp>
        <p:nvSpPr>
          <p:cNvPr id="128" name="Body Level One…"/>
          <p:cNvSpPr txBox="1">
            <a:spLocks noGrp="1"/>
          </p:cNvSpPr>
          <p:nvPr>
            <p:ph type="body" idx="1"/>
          </p:nvPr>
        </p:nvSpPr>
        <p:spPr>
          <a:xfrm rot="5400000">
            <a:off x="1696999" y="-812860"/>
            <a:ext cx="5851501" cy="8026501"/>
          </a:xfrm>
          <a:prstGeom prst="rect">
            <a:avLst/>
          </a:prstGeom>
        </p:spPr>
        <p:txBody>
          <a:bodyPr/>
          <a:lstStyle>
            <a:lvl1pPr indent="-342900">
              <a:spcBef>
                <a:spcPts val="300"/>
              </a:spcBef>
            </a:lvl1pPr>
            <a:lvl2pPr marL="982980" indent="-411480">
              <a:spcBef>
                <a:spcPts val="300"/>
              </a:spcBef>
            </a:lvl2pPr>
            <a:lvl3pPr>
              <a:spcBef>
                <a:spcPts val="300"/>
              </a:spcBef>
            </a:lvl3pPr>
            <a:lvl4pPr marL="2000250" indent="-514350">
              <a:spcBef>
                <a:spcPts val="300"/>
              </a:spcBef>
            </a:lvl4pPr>
            <a:lvl5pPr marL="2457450" indent="-514350">
              <a:spcBef>
                <a:spcPts val="300"/>
              </a:spcBef>
            </a:lvl5pPr>
          </a:lstStyle>
          <a:p>
            <a:r>
              <a:t>Body Level One</a:t>
            </a:r>
          </a:p>
          <a:p>
            <a:pPr lvl="1"/>
            <a:r>
              <a:t>Body Level Two</a:t>
            </a:r>
          </a:p>
          <a:p>
            <a:pPr lvl="2"/>
            <a:r>
              <a:t>Body Level Three</a:t>
            </a:r>
          </a:p>
          <a:p>
            <a:pPr lvl="3"/>
            <a:r>
              <a:t>Body Level Four</a:t>
            </a:r>
          </a:p>
          <a:p>
            <a:pPr lvl="4"/>
            <a:r>
              <a:t>Body Level Five</a:t>
            </a:r>
          </a:p>
        </p:txBody>
      </p:sp>
      <p:sp>
        <p:nvSpPr>
          <p:cNvPr id="12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Google Shape;11;p1"/>
          <p:cNvSpPr/>
          <p:nvPr/>
        </p:nvSpPr>
        <p:spPr>
          <a:xfrm>
            <a:off x="812800" y="914400"/>
            <a:ext cx="10668001" cy="0"/>
          </a:xfrm>
          <a:prstGeom prst="line">
            <a:avLst/>
          </a:prstGeom>
          <a:ln w="57150">
            <a:solidFill>
              <a:srgbClr val="000000"/>
            </a:solidFill>
          </a:ln>
        </p:spPr>
        <p:txBody>
          <a:bodyPr lIns="45719" rIns="45719"/>
          <a:lstStyle/>
          <a:p>
            <a:endParaRPr/>
          </a:p>
        </p:txBody>
      </p:sp>
      <p:pic>
        <p:nvPicPr>
          <p:cNvPr id="3" name="Google Shape;12;p1" descr="Google Shape;12;p1"/>
          <p:cNvPicPr>
            <a:picLocks noChangeAspect="1"/>
          </p:cNvPicPr>
          <p:nvPr/>
        </p:nvPicPr>
        <p:blipFill>
          <a:blip r:embed="rId13"/>
          <a:srcRect b="18046"/>
          <a:stretch>
            <a:fillRect/>
          </a:stretch>
        </p:blipFill>
        <p:spPr>
          <a:xfrm>
            <a:off x="0" y="5991366"/>
            <a:ext cx="12192001" cy="866634"/>
          </a:xfrm>
          <a:prstGeom prst="rect">
            <a:avLst/>
          </a:prstGeom>
          <a:ln w="12700">
            <a:miter lim="400000"/>
          </a:ln>
        </p:spPr>
      </p:pic>
      <p:sp>
        <p:nvSpPr>
          <p:cNvPr id="4" name="Title Text"/>
          <p:cNvSpPr txBox="1">
            <a:spLocks noGrp="1"/>
          </p:cNvSpPr>
          <p:nvPr>
            <p:ph type="title"/>
          </p:nvPr>
        </p:nvSpPr>
        <p:spPr>
          <a:xfrm>
            <a:off x="812800" y="274638"/>
            <a:ext cx="10668000" cy="487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chor="ctr">
            <a:normAutofit/>
          </a:bodyPr>
          <a:lstStyle/>
          <a:p>
            <a:r>
              <a:t>Title Text</a:t>
            </a:r>
          </a:p>
        </p:txBody>
      </p:sp>
      <p:sp>
        <p:nvSpPr>
          <p:cNvPr id="5" name="Body Level One…"/>
          <p:cNvSpPr txBox="1">
            <a:spLocks noGrp="1"/>
          </p:cNvSpPr>
          <p:nvPr>
            <p:ph type="body" idx="1"/>
          </p:nvPr>
        </p:nvSpPr>
        <p:spPr>
          <a:xfrm>
            <a:off x="812800" y="1143000"/>
            <a:ext cx="10668000" cy="495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11284625" y="6397953"/>
            <a:ext cx="297875" cy="281901"/>
          </a:xfrm>
          <a:prstGeom prst="rect">
            <a:avLst/>
          </a:prstGeom>
          <a:ln w="12700">
            <a:miter lim="400000"/>
          </a:ln>
        </p:spPr>
        <p:txBody>
          <a:bodyPr wrap="none" lIns="45699" tIns="45699" rIns="45699" bIns="45699" anchor="ctr">
            <a:spAutoFit/>
          </a:bodyPr>
          <a:lstStyle>
            <a:lvl1pPr algn="r">
              <a:defRPr sz="1200">
                <a:solidFill>
                  <a:srgbClr val="888888"/>
                </a:solidFill>
                <a:latin typeface="Verdana"/>
                <a:ea typeface="Verdana"/>
                <a:cs typeface="Verdana"/>
                <a:sym typeface="Verdana"/>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txStyles>
    <p:titleStyle>
      <a:lvl1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1pPr>
      <a:lvl2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2pPr>
      <a:lvl3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3pPr>
      <a:lvl4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4pPr>
      <a:lvl5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5pPr>
      <a:lvl6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6pPr>
      <a:lvl7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7pPr>
      <a:lvl8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8pPr>
      <a:lvl9pPr marL="0" marR="0" indent="0" algn="l" defTabSz="914400" rtl="0" latinLnBrk="0">
        <a:lnSpc>
          <a:spcPct val="100000"/>
        </a:lnSpc>
        <a:spcBef>
          <a:spcPts val="0"/>
        </a:spcBef>
        <a:spcAft>
          <a:spcPts val="0"/>
        </a:spcAft>
        <a:buClrTx/>
        <a:buSzTx/>
        <a:buFontTx/>
        <a:buNone/>
        <a:tabLst/>
        <a:defRPr sz="2800" b="1" i="0" u="none" strike="noStrike" cap="none" spc="0" baseline="0">
          <a:solidFill>
            <a:srgbClr val="17365D"/>
          </a:solidFill>
          <a:uFillTx/>
          <a:latin typeface="Verdana"/>
          <a:ea typeface="Verdana"/>
          <a:cs typeface="Verdana"/>
          <a:sym typeface="Verdana"/>
        </a:defRPr>
      </a:lvl9pPr>
    </p:titleStyle>
    <p:bodyStyle>
      <a:lvl1pPr marL="457200" marR="0" indent="-3810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1pPr>
      <a:lvl2pPr marL="985519" marR="0" indent="-42671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2pPr>
      <a:lvl3pPr marL="1485900" marR="0" indent="-4572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3pPr>
      <a:lvl4pPr marL="1993900" marR="0" indent="-4953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4pPr>
      <a:lvl5pPr marL="2451100" marR="0" indent="-495300"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5pPr>
      <a:lvl6pPr marL="28117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6pPr>
      <a:lvl7pPr marL="32689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7pPr>
      <a:lvl8pPr marL="37261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8pPr>
      <a:lvl9pPr marL="4183379" marR="0" indent="-411479" algn="l" defTabSz="914400" rtl="0" latinLnBrk="0">
        <a:lnSpc>
          <a:spcPct val="100000"/>
        </a:lnSpc>
        <a:spcBef>
          <a:spcPts val="400"/>
        </a:spcBef>
        <a:spcAft>
          <a:spcPts val="0"/>
        </a:spcAft>
        <a:buClr>
          <a:srgbClr val="000000"/>
        </a:buClr>
        <a:buSzPts val="2400"/>
        <a:buFont typeface="Arial"/>
        <a:buChar char="•"/>
        <a:tabLst/>
        <a:defRPr sz="2400" b="0" i="0" u="none" strike="noStrike" cap="none" spc="0" baseline="0">
          <a:solidFill>
            <a:srgbClr val="000000"/>
          </a:solidFill>
          <a:uFillTx/>
          <a:latin typeface="Verdana"/>
          <a:ea typeface="Verdana"/>
          <a:cs typeface="Verdana"/>
          <a:sym typeface="Verdana"/>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Verdana"/>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hyperlink" Target="https://www.tensorflow.org/" TargetMode="Externa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Google Shape;87;p13"/>
          <p:cNvSpPr txBox="1">
            <a:spLocks noGrp="1"/>
          </p:cNvSpPr>
          <p:nvPr>
            <p:ph type="ctrTitle"/>
          </p:nvPr>
        </p:nvSpPr>
        <p:spPr>
          <a:xfrm>
            <a:off x="790468" y="1069101"/>
            <a:ext cx="10363201" cy="962899"/>
          </a:xfrm>
          <a:prstGeom prst="rect">
            <a:avLst/>
          </a:prstGeom>
        </p:spPr>
        <p:txBody>
          <a:bodyPr/>
          <a:lstStyle>
            <a:lvl1pPr algn="ctr">
              <a:defRPr sz="2400">
                <a:solidFill>
                  <a:srgbClr val="000000"/>
                </a:solidFill>
                <a:latin typeface="Cambria"/>
                <a:ea typeface="Cambria"/>
                <a:cs typeface="Cambria"/>
                <a:sym typeface="Cambria"/>
              </a:defRPr>
            </a:lvl1pPr>
          </a:lstStyle>
          <a:p>
            <a:r>
              <a:t>SMART PERSONAL FINANCE AUTOMATOR</a:t>
            </a:r>
          </a:p>
        </p:txBody>
      </p:sp>
      <p:sp>
        <p:nvSpPr>
          <p:cNvPr id="139" name="Google Shape;88;p13"/>
          <p:cNvSpPr txBox="1">
            <a:spLocks noGrp="1"/>
          </p:cNvSpPr>
          <p:nvPr>
            <p:ph type="subTitle" sz="quarter" idx="1"/>
          </p:nvPr>
        </p:nvSpPr>
        <p:spPr>
          <a:xfrm>
            <a:off x="790468" y="2045352"/>
            <a:ext cx="4391131" cy="552301"/>
          </a:xfrm>
          <a:prstGeom prst="rect">
            <a:avLst/>
          </a:prstGeom>
        </p:spPr>
        <p:txBody>
          <a:bodyPr/>
          <a:lstStyle/>
          <a:p>
            <a:pPr marL="0" indent="0" algn="l">
              <a:spcBef>
                <a:spcPts val="0"/>
              </a:spcBef>
              <a:defRPr sz="1800">
                <a:latin typeface="Cambria"/>
                <a:ea typeface="Cambria"/>
                <a:cs typeface="Cambria"/>
                <a:sym typeface="Cambria"/>
              </a:defRPr>
            </a:pPr>
            <a:r>
              <a:t>Batch Number:</a:t>
            </a:r>
            <a:r>
              <a:rPr b="0">
                <a:solidFill>
                  <a:srgbClr val="000000"/>
                </a:solidFill>
              </a:rPr>
              <a:t>CSE_79</a:t>
            </a:r>
          </a:p>
        </p:txBody>
      </p:sp>
      <p:sp>
        <p:nvSpPr>
          <p:cNvPr id="140" name="Google Shape;90;p13"/>
          <p:cNvSpPr txBox="1"/>
          <p:nvPr/>
        </p:nvSpPr>
        <p:spPr>
          <a:xfrm>
            <a:off x="6525920" y="2513339"/>
            <a:ext cx="5422851" cy="20205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normAutofit/>
          </a:bodyPr>
          <a:lstStyle/>
          <a:p>
            <a:pPr algn="ctr" defTabSz="795527">
              <a:defRPr sz="1566" b="1">
                <a:solidFill>
                  <a:srgbClr val="17365D"/>
                </a:solidFill>
                <a:latin typeface="Bookman Old Style"/>
                <a:ea typeface="Bookman Old Style"/>
                <a:cs typeface="Bookman Old Style"/>
                <a:sym typeface="Bookman Old Style"/>
              </a:defRPr>
            </a:pPr>
            <a:r>
              <a:t>Under the Supervision of,</a:t>
            </a:r>
          </a:p>
          <a:p>
            <a:pPr algn="ctr" defTabSz="795527">
              <a:spcBef>
                <a:spcPts val="300"/>
              </a:spcBef>
              <a:defRPr sz="1740" b="1">
                <a:solidFill>
                  <a:srgbClr val="17365D"/>
                </a:solidFill>
                <a:latin typeface="Bookman Old Style"/>
                <a:ea typeface="Bookman Old Style"/>
                <a:cs typeface="Bookman Old Style"/>
                <a:sym typeface="Bookman Old Style"/>
              </a:defRPr>
            </a:pPr>
            <a:endParaRPr/>
          </a:p>
          <a:p>
            <a:pPr defTabSz="795527">
              <a:spcBef>
                <a:spcPts val="200"/>
              </a:spcBef>
              <a:defRPr sz="1566" b="1">
                <a:solidFill>
                  <a:srgbClr val="17365D"/>
                </a:solidFill>
                <a:latin typeface="Bookman Old Style"/>
                <a:ea typeface="Bookman Old Style"/>
                <a:cs typeface="Bookman Old Style"/>
                <a:sym typeface="Bookman Old Style"/>
              </a:defRPr>
            </a:pPr>
            <a:r>
              <a:t>                        </a:t>
            </a:r>
            <a:r>
              <a:rPr b="0"/>
              <a:t>Ms.Sreelatha PK</a:t>
            </a:r>
          </a:p>
          <a:p>
            <a:pPr defTabSz="795527">
              <a:spcBef>
                <a:spcPts val="200"/>
              </a:spcBef>
              <a:defRPr sz="1566">
                <a:solidFill>
                  <a:srgbClr val="17365D"/>
                </a:solidFill>
                <a:latin typeface="Bookman Old Style"/>
                <a:ea typeface="Bookman Old Style"/>
                <a:cs typeface="Bookman Old Style"/>
                <a:sym typeface="Bookman Old Style"/>
              </a:defRPr>
            </a:pPr>
            <a:r>
              <a:t>                        Assistant Professor</a:t>
            </a:r>
          </a:p>
          <a:p>
            <a:pPr defTabSz="795527">
              <a:spcBef>
                <a:spcPts val="200"/>
              </a:spcBef>
              <a:defRPr sz="1566">
                <a:solidFill>
                  <a:srgbClr val="17365D"/>
                </a:solidFill>
                <a:latin typeface="Bookman Old Style"/>
                <a:ea typeface="Bookman Old Style"/>
                <a:cs typeface="Bookman Old Style"/>
                <a:sym typeface="Bookman Old Style"/>
              </a:defRPr>
            </a:pPr>
            <a:r>
              <a:t>   School of Computer Science and Engineering</a:t>
            </a:r>
          </a:p>
          <a:p>
            <a:pPr defTabSz="795527">
              <a:spcBef>
                <a:spcPts val="200"/>
              </a:spcBef>
              <a:defRPr sz="1566">
                <a:solidFill>
                  <a:srgbClr val="17365D"/>
                </a:solidFill>
                <a:latin typeface="Bookman Old Style"/>
                <a:ea typeface="Bookman Old Style"/>
                <a:cs typeface="Bookman Old Style"/>
                <a:sym typeface="Bookman Old Style"/>
              </a:defRPr>
            </a:pPr>
            <a:r>
              <a:t>                       Presidency University</a:t>
            </a:r>
          </a:p>
        </p:txBody>
      </p:sp>
      <p:sp>
        <p:nvSpPr>
          <p:cNvPr id="141" name="Google Shape;91;p13"/>
          <p:cNvSpPr txBox="1"/>
          <p:nvPr/>
        </p:nvSpPr>
        <p:spPr>
          <a:xfrm>
            <a:off x="2877949" y="136440"/>
            <a:ext cx="5407525" cy="662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algn="ctr">
              <a:defRPr sz="1800" b="1">
                <a:solidFill>
                  <a:srgbClr val="17365D"/>
                </a:solidFill>
                <a:latin typeface="Cambria"/>
                <a:ea typeface="Cambria"/>
                <a:cs typeface="Cambria"/>
                <a:sym typeface="Cambria"/>
              </a:defRPr>
            </a:pPr>
            <a:r>
              <a:t>CSE7101- Capstone Project</a:t>
            </a:r>
          </a:p>
          <a:p>
            <a:pPr algn="ctr">
              <a:spcBef>
                <a:spcPts val="300"/>
              </a:spcBef>
              <a:defRPr sz="1800" b="1">
                <a:solidFill>
                  <a:srgbClr val="17365D"/>
                </a:solidFill>
                <a:latin typeface="Cambria"/>
                <a:ea typeface="Cambria"/>
                <a:cs typeface="Cambria"/>
                <a:sym typeface="Cambria"/>
              </a:defRPr>
            </a:pPr>
            <a:r>
              <a:t>Review-2</a:t>
            </a:r>
          </a:p>
        </p:txBody>
      </p:sp>
      <p:sp>
        <p:nvSpPr>
          <p:cNvPr id="142" name="Google Shape;91;p13"/>
          <p:cNvSpPr txBox="1"/>
          <p:nvPr/>
        </p:nvSpPr>
        <p:spPr>
          <a:xfrm>
            <a:off x="45724" y="4533900"/>
            <a:ext cx="12158467" cy="1158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699" tIns="45699" rIns="45699" bIns="45699">
            <a:spAutoFit/>
          </a:bodyPr>
          <a:lstStyle/>
          <a:p>
            <a:pPr>
              <a:defRPr sz="1800" b="1">
                <a:solidFill>
                  <a:schemeClr val="accent1"/>
                </a:solidFill>
                <a:latin typeface="Cambria"/>
                <a:ea typeface="Cambria"/>
                <a:cs typeface="Cambria"/>
                <a:sym typeface="Cambria"/>
              </a:defRPr>
            </a:pPr>
            <a:r>
              <a:t>Name of the Program: </a:t>
            </a:r>
            <a:r>
              <a:rPr>
                <a:solidFill>
                  <a:srgbClr val="000000"/>
                </a:solidFill>
              </a:rPr>
              <a:t>B.Tech CSE</a:t>
            </a:r>
          </a:p>
          <a:p>
            <a:pPr>
              <a:defRPr sz="1800" b="1">
                <a:solidFill>
                  <a:schemeClr val="accent1"/>
                </a:solidFill>
                <a:latin typeface="Cambria"/>
                <a:ea typeface="Cambria"/>
                <a:cs typeface="Cambria"/>
                <a:sym typeface="Cambria"/>
              </a:defRPr>
            </a:pPr>
            <a:r>
              <a:t>Name of the HoD: </a:t>
            </a:r>
            <a:r>
              <a:rPr>
                <a:solidFill>
                  <a:srgbClr val="000000"/>
                </a:solidFill>
              </a:rPr>
              <a:t>Dr. Asif Mohammed</a:t>
            </a:r>
            <a:endParaRPr>
              <a:solidFill>
                <a:srgbClr val="FF0000"/>
              </a:solidFill>
            </a:endParaRPr>
          </a:p>
          <a:p>
            <a:pPr>
              <a:defRPr sz="1800" b="1">
                <a:solidFill>
                  <a:schemeClr val="accent1"/>
                </a:solidFill>
                <a:latin typeface="Cambria"/>
                <a:ea typeface="Cambria"/>
                <a:cs typeface="Cambria"/>
                <a:sym typeface="Cambria"/>
              </a:defRPr>
            </a:pPr>
            <a:r>
              <a:t>Name of the Program Project Coordinator: </a:t>
            </a:r>
            <a:r>
              <a:rPr>
                <a:solidFill>
                  <a:srgbClr val="000000"/>
                </a:solidFill>
              </a:rPr>
              <a:t>Dr. Jayavadivel Ravi</a:t>
            </a:r>
          </a:p>
          <a:p>
            <a:pPr>
              <a:defRPr sz="1800" b="1">
                <a:solidFill>
                  <a:schemeClr val="accent1"/>
                </a:solidFill>
                <a:latin typeface="Cambria"/>
                <a:ea typeface="Cambria"/>
                <a:cs typeface="Cambria"/>
                <a:sym typeface="Cambria"/>
              </a:defRPr>
            </a:pPr>
            <a:r>
              <a:t>Name of the School Project Coordinators: </a:t>
            </a:r>
            <a:r>
              <a:rPr>
                <a:solidFill>
                  <a:srgbClr val="000000"/>
                </a:solidFill>
              </a:rPr>
              <a:t>Dr. Sampath A K , Dr. Geetha A </a:t>
            </a:r>
          </a:p>
        </p:txBody>
      </p:sp>
      <p:graphicFrame>
        <p:nvGraphicFramePr>
          <p:cNvPr id="143" name="Table 1"/>
          <p:cNvGraphicFramePr/>
          <p:nvPr/>
        </p:nvGraphicFramePr>
        <p:xfrm>
          <a:off x="609451" y="2543769"/>
          <a:ext cx="5362616" cy="2743260"/>
        </p:xfrm>
        <a:graphic>
          <a:graphicData uri="http://schemas.openxmlformats.org/drawingml/2006/table">
            <a:tbl>
              <a:tblPr firstRow="1">
                <a:tableStyleId>{4C3C2611-4C71-4FC5-86AE-919BDF0F9419}</a:tableStyleId>
              </a:tblPr>
              <a:tblGrid>
                <a:gridCol w="2101102">
                  <a:extLst>
                    <a:ext uri="{9D8B030D-6E8A-4147-A177-3AD203B41FA5}">
                      <a16:colId xmlns:a16="http://schemas.microsoft.com/office/drawing/2014/main" val="20000"/>
                    </a:ext>
                  </a:extLst>
                </a:gridCol>
                <a:gridCol w="3261514">
                  <a:extLst>
                    <a:ext uri="{9D8B030D-6E8A-4147-A177-3AD203B41FA5}">
                      <a16:colId xmlns:a16="http://schemas.microsoft.com/office/drawing/2014/main" val="20001"/>
                    </a:ext>
                  </a:extLst>
                </a:gridCol>
              </a:tblGrid>
              <a:tr h="208071">
                <a:tc>
                  <a:txBody>
                    <a:bodyPr/>
                    <a:lstStyle/>
                    <a:p>
                      <a:pPr lvl="1" algn="ctr">
                        <a:defRPr sz="1800" b="1">
                          <a:solidFill>
                            <a:srgbClr val="17365D"/>
                          </a:solidFill>
                          <a:sym typeface="Arial"/>
                        </a:defRPr>
                      </a:pPr>
                      <a:r>
                        <a:t>Roll Number</a:t>
                      </a:r>
                    </a:p>
                  </a:txBody>
                  <a:tcPr marL="45725" marR="45725" marT="45725" marB="45725" anchor="ctr" horzOverflow="overflow"/>
                </a:tc>
                <a:tc>
                  <a:txBody>
                    <a:bodyPr/>
                    <a:lstStyle/>
                    <a:p>
                      <a:pPr algn="ctr">
                        <a:defRPr sz="1800"/>
                      </a:pPr>
                      <a:r>
                        <a:rPr b="1">
                          <a:solidFill>
                            <a:srgbClr val="17365D"/>
                          </a:solidFill>
                          <a:sym typeface="Arial"/>
                        </a:rPr>
                        <a:t>Student Name</a:t>
                      </a:r>
                    </a:p>
                  </a:txBody>
                  <a:tcPr marL="45725" marR="45725" marT="45725" marB="45725" anchor="ctr" horzOverflow="overflow"/>
                </a:tc>
                <a:extLst>
                  <a:ext uri="{0D108BD9-81ED-4DB2-BD59-A6C34878D82A}">
                    <a16:rowId xmlns:a16="http://schemas.microsoft.com/office/drawing/2014/main" val="10000"/>
                  </a:ext>
                </a:extLst>
              </a:tr>
              <a:tr h="676220">
                <a:tc>
                  <a:txBody>
                    <a:bodyPr/>
                    <a:lstStyle/>
                    <a:p>
                      <a:pPr algn="ctr">
                        <a:defRPr sz="1800">
                          <a:latin typeface="Bookman Old Style"/>
                          <a:ea typeface="Bookman Old Style"/>
                          <a:cs typeface="Bookman Old Style"/>
                          <a:sym typeface="Bookman Old Style"/>
                        </a:defRPr>
                      </a:pPr>
                      <a:r>
                        <a:t>20221CSE0493 20221CSE0334</a:t>
                      </a:r>
                    </a:p>
                    <a:p>
                      <a:pPr algn="ctr">
                        <a:defRPr sz="1800">
                          <a:latin typeface="Bookman Old Style"/>
                          <a:ea typeface="Bookman Old Style"/>
                          <a:cs typeface="Bookman Old Style"/>
                          <a:sym typeface="Bookman Old Style"/>
                        </a:defRPr>
                      </a:pPr>
                      <a:r>
                        <a:t>20221CSE0492</a:t>
                      </a:r>
                    </a:p>
                  </a:txBody>
                  <a:tcPr marL="45725" marR="45725" marT="45725" marB="45725" anchor="ctr" horzOverflow="overflow"/>
                </a:tc>
                <a:tc>
                  <a:txBody>
                    <a:bodyPr/>
                    <a:lstStyle/>
                    <a:p>
                      <a:pPr algn="ctr">
                        <a:defRPr sz="1800">
                          <a:latin typeface="Bookman Old Style"/>
                          <a:ea typeface="Bookman Old Style"/>
                          <a:cs typeface="Bookman Old Style"/>
                          <a:sym typeface="Bookman Old Style"/>
                        </a:defRPr>
                      </a:pPr>
                      <a:r>
                        <a:t>Arunachalam T</a:t>
                      </a:r>
                    </a:p>
                    <a:p>
                      <a:pPr algn="ctr">
                        <a:defRPr sz="1800">
                          <a:latin typeface="Bookman Old Style"/>
                          <a:ea typeface="Bookman Old Style"/>
                          <a:cs typeface="Bookman Old Style"/>
                          <a:sym typeface="Bookman Old Style"/>
                        </a:defRPr>
                      </a:pPr>
                      <a:r>
                        <a:t>Rakshitha DS</a:t>
                      </a:r>
                    </a:p>
                    <a:p>
                      <a:pPr algn="ctr">
                        <a:defRPr sz="1800">
                          <a:latin typeface="Bookman Old Style"/>
                          <a:ea typeface="Bookman Old Style"/>
                          <a:cs typeface="Bookman Old Style"/>
                          <a:sym typeface="Bookman Old Style"/>
                        </a:defRPr>
                      </a:pPr>
                      <a:r>
                        <a:t>Vaishnavi Sastry S</a:t>
                      </a:r>
                    </a:p>
                  </a:txBody>
                  <a:tcPr marL="45725" marR="45725" marT="45725" marB="45725" anchor="ctr" horzOverflow="overflow"/>
                </a:tc>
                <a:extLst>
                  <a:ext uri="{0D108BD9-81ED-4DB2-BD59-A6C34878D82A}">
                    <a16:rowId xmlns:a16="http://schemas.microsoft.com/office/drawing/2014/main" val="10001"/>
                  </a:ext>
                </a:extLst>
              </a:tr>
              <a:tr h="208071">
                <a:tc>
                  <a:txBody>
                    <a:bodyPr/>
                    <a:lstStyle/>
                    <a:p>
                      <a:pPr algn="ctr">
                        <a:defRPr sz="1800">
                          <a:sym typeface="Arial"/>
                        </a:defRPr>
                      </a:pPr>
                      <a:endParaRPr/>
                    </a:p>
                  </a:txBody>
                  <a:tcPr marL="45725" marR="45725" marT="45725" marB="45725" anchor="ctr" horzOverflow="overflow"/>
                </a:tc>
                <a:tc>
                  <a:txBody>
                    <a:bodyPr/>
                    <a:lstStyle/>
                    <a:p>
                      <a:pPr algn="ctr">
                        <a:defRPr sz="1800">
                          <a:sym typeface="Arial"/>
                        </a:defRPr>
                      </a:pPr>
                      <a:endParaRPr/>
                    </a:p>
                  </a:txBody>
                  <a:tcPr marL="45725" marR="45725" marT="45725" marB="45725" anchor="ctr" horzOverflow="overflow"/>
                </a:tc>
                <a:extLst>
                  <a:ext uri="{0D108BD9-81ED-4DB2-BD59-A6C34878D82A}">
                    <a16:rowId xmlns:a16="http://schemas.microsoft.com/office/drawing/2014/main" val="10002"/>
                  </a:ext>
                </a:extLst>
              </a:tr>
              <a:tr h="190894">
                <a:tc>
                  <a:txBody>
                    <a:bodyPr/>
                    <a:lstStyle/>
                    <a:p>
                      <a:pPr algn="ctr">
                        <a:defRPr sz="1800">
                          <a:sym typeface="Arial"/>
                        </a:defRPr>
                      </a:pPr>
                      <a:endParaRPr/>
                    </a:p>
                  </a:txBody>
                  <a:tcPr marL="45725" marR="45725" marT="45725" marB="45725" anchor="ctr" horzOverflow="overflow"/>
                </a:tc>
                <a:tc>
                  <a:txBody>
                    <a:bodyPr/>
                    <a:lstStyle/>
                    <a:p>
                      <a:pPr algn="ctr">
                        <a:defRPr sz="1800">
                          <a:sym typeface="Arial"/>
                        </a:defRPr>
                      </a:pPr>
                      <a:endParaRPr/>
                    </a:p>
                  </a:txBody>
                  <a:tcPr marL="45725" marR="45725" marT="45725" marB="45725" anchor="ctr" horzOverflow="overflow"/>
                </a:tc>
                <a:extLst>
                  <a:ext uri="{0D108BD9-81ED-4DB2-BD59-A6C34878D82A}">
                    <a16:rowId xmlns:a16="http://schemas.microsoft.com/office/drawing/2014/main" val="10003"/>
                  </a:ext>
                </a:extLst>
              </a:tr>
              <a:tr h="208071">
                <a:tc>
                  <a:txBody>
                    <a:bodyPr/>
                    <a:lstStyle/>
                    <a:p>
                      <a:pPr algn="ctr">
                        <a:defRPr sz="1800">
                          <a:sym typeface="Arial"/>
                        </a:defRPr>
                      </a:pPr>
                      <a:endParaRPr/>
                    </a:p>
                  </a:txBody>
                  <a:tcPr marL="45725" marR="45725" marT="45725" marB="45725" anchor="ctr" horzOverflow="overflow"/>
                </a:tc>
                <a:tc>
                  <a:txBody>
                    <a:bodyPr/>
                    <a:lstStyle/>
                    <a:p>
                      <a:pPr algn="ctr">
                        <a:defRPr sz="1800">
                          <a:sym typeface="Arial"/>
                        </a:defRPr>
                      </a:pPr>
                      <a:endParaRPr/>
                    </a:p>
                  </a:txBody>
                  <a:tcPr marL="45725" marR="45725" marT="45725" marB="45725" anchor="ctr" horzOverflow="overflow"/>
                </a:tc>
                <a:extLst>
                  <a:ext uri="{0D108BD9-81ED-4DB2-BD59-A6C34878D82A}">
                    <a16:rowId xmlns:a16="http://schemas.microsoft.com/office/drawing/2014/main" val="10004"/>
                  </a:ext>
                </a:extLst>
              </a:tr>
              <a:tr h="208071">
                <a:tc>
                  <a:txBody>
                    <a:bodyPr/>
                    <a:lstStyle/>
                    <a:p>
                      <a:pPr algn="ctr">
                        <a:defRPr sz="1800">
                          <a:sym typeface="Arial"/>
                        </a:defRPr>
                      </a:pPr>
                      <a:endParaRPr/>
                    </a:p>
                  </a:txBody>
                  <a:tcPr marL="45725" marR="45725" marT="45725" marB="45725" anchor="ctr" horzOverflow="overflow"/>
                </a:tc>
                <a:tc>
                  <a:txBody>
                    <a:bodyPr/>
                    <a:lstStyle/>
                    <a:p>
                      <a:pPr algn="ctr">
                        <a:defRPr sz="1800">
                          <a:sym typeface="Arial"/>
                        </a:defRPr>
                      </a:pPr>
                      <a:endParaRPr/>
                    </a:p>
                  </a:txBody>
                  <a:tcPr marL="45725" marR="45725" marT="45725" marB="45725" anchor="ctr" horzOverflow="overflow"/>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Google Shape;96;p14"/>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Problem Statement Number: </a:t>
            </a:r>
          </a:p>
        </p:txBody>
      </p:sp>
      <p:sp>
        <p:nvSpPr>
          <p:cNvPr id="146" name="Text Placeholder 1"/>
          <p:cNvSpPr txBox="1">
            <a:spLocks noGrp="1"/>
          </p:cNvSpPr>
          <p:nvPr>
            <p:ph type="body" idx="1"/>
          </p:nvPr>
        </p:nvSpPr>
        <p:spPr>
          <a:prstGeom prst="rect">
            <a:avLst/>
          </a:prstGeom>
        </p:spPr>
        <p:txBody>
          <a:bodyPr/>
          <a:lstStyle/>
          <a:p>
            <a:pPr marL="190500" indent="-38100" algn="just">
              <a:lnSpc>
                <a:spcPct val="80000"/>
              </a:lnSpc>
              <a:spcBef>
                <a:spcPts val="0"/>
              </a:spcBef>
              <a:buSzTx/>
              <a:buNone/>
              <a:defRPr sz="2500">
                <a:latin typeface="Cambria"/>
                <a:ea typeface="Cambria"/>
                <a:cs typeface="Cambria"/>
                <a:sym typeface="Cambria"/>
              </a:defRPr>
            </a:pPr>
            <a:r>
              <a:t>Organization : Smart Automation</a:t>
            </a:r>
            <a:endParaRPr sz="2200"/>
          </a:p>
          <a:p>
            <a:pPr marL="190500" indent="-38100" algn="just">
              <a:lnSpc>
                <a:spcPct val="160000"/>
              </a:lnSpc>
              <a:spcBef>
                <a:spcPts val="0"/>
              </a:spcBef>
              <a:buSzTx/>
              <a:buNone/>
              <a:defRPr sz="2500">
                <a:latin typeface="Cambria"/>
                <a:ea typeface="Cambria"/>
                <a:cs typeface="Cambria"/>
                <a:sym typeface="Cambria"/>
              </a:defRPr>
            </a:pPr>
            <a:r>
              <a:t>Category (Hardware / Software / Both) : Software</a:t>
            </a:r>
            <a:endParaRPr sz="2200"/>
          </a:p>
          <a:p>
            <a:pPr marL="190500" indent="-38100" algn="just">
              <a:lnSpc>
                <a:spcPct val="128000"/>
              </a:lnSpc>
              <a:spcBef>
                <a:spcPts val="0"/>
              </a:spcBef>
              <a:buSzTx/>
              <a:buNone/>
              <a:defRPr sz="2500">
                <a:latin typeface="Cambria"/>
                <a:ea typeface="Cambria"/>
                <a:cs typeface="Cambria"/>
                <a:sym typeface="Cambria"/>
              </a:defRPr>
            </a:pPr>
            <a:r>
              <a:t>Problem Description </a:t>
            </a:r>
            <a:r>
              <a:rPr sz="3300"/>
              <a:t>: </a:t>
            </a:r>
            <a:r>
              <a:rPr sz="1900"/>
              <a:t>The "Smart Personal Finance Automator" is a web-based application designed to address the challenges of manual expense management. The system will automatically ingest and parse financial transaction data from bank SMS and email alerts. Using Natural Language Processing (NLP), it will intelligently extract key details like transaction amount, vendor, and date. This structured data is then used to auto-categorize expenses and generate interactive visual reports. The platform aims to provide users with a seamless and insightful overview of their spending patterns and offer personalized recommendations to improve their budgeting and saving habits, ultimately fostering better financial health.</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Google Shape;96;p14"/>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Content</a:t>
            </a:r>
          </a:p>
        </p:txBody>
      </p:sp>
      <p:sp>
        <p:nvSpPr>
          <p:cNvPr id="149" name="Google Shape;97;p14"/>
          <p:cNvSpPr txBox="1">
            <a:spLocks noGrp="1"/>
          </p:cNvSpPr>
          <p:nvPr>
            <p:ph type="body" idx="1"/>
          </p:nvPr>
        </p:nvSpPr>
        <p:spPr>
          <a:xfrm>
            <a:off x="583894" y="1006197"/>
            <a:ext cx="10668001" cy="5577696"/>
          </a:xfrm>
          <a:prstGeom prst="rect">
            <a:avLst/>
          </a:prstGeom>
        </p:spPr>
        <p:txBody>
          <a:bodyPr/>
          <a:lstStyle/>
          <a:p>
            <a:pPr marL="495300" indent="-342900" algn="just">
              <a:lnSpc>
                <a:spcPct val="200000"/>
              </a:lnSpc>
              <a:spcBef>
                <a:spcPts val="0"/>
              </a:spcBef>
              <a:buSzPts val="1800"/>
              <a:defRPr sz="1800">
                <a:latin typeface="Cambria"/>
                <a:ea typeface="Cambria"/>
                <a:cs typeface="Cambria"/>
                <a:sym typeface="Cambria"/>
              </a:defRPr>
            </a:pPr>
            <a:r>
              <a:t>Abstract</a:t>
            </a:r>
          </a:p>
          <a:p>
            <a:pPr marL="495300" indent="-342900" algn="just">
              <a:lnSpc>
                <a:spcPct val="200000"/>
              </a:lnSpc>
              <a:spcBef>
                <a:spcPts val="0"/>
              </a:spcBef>
              <a:buSzPts val="1800"/>
              <a:defRPr sz="1800">
                <a:latin typeface="Cambria"/>
                <a:ea typeface="Cambria"/>
                <a:cs typeface="Cambria"/>
                <a:sym typeface="Cambria"/>
              </a:defRPr>
            </a:pPr>
            <a:r>
              <a:t>Literature Survey</a:t>
            </a:r>
          </a:p>
          <a:p>
            <a:pPr marL="495300" indent="-342900" algn="just">
              <a:lnSpc>
                <a:spcPct val="200000"/>
              </a:lnSpc>
              <a:spcBef>
                <a:spcPts val="0"/>
              </a:spcBef>
              <a:buSzPts val="1800"/>
              <a:defRPr sz="1800">
                <a:latin typeface="Cambria"/>
                <a:ea typeface="Cambria"/>
                <a:cs typeface="Cambria"/>
                <a:sym typeface="Cambria"/>
              </a:defRPr>
            </a:pPr>
            <a:r>
              <a:t>Objectives</a:t>
            </a:r>
          </a:p>
          <a:p>
            <a:pPr marL="495300" indent="-342900" algn="just">
              <a:lnSpc>
                <a:spcPct val="200000"/>
              </a:lnSpc>
              <a:spcBef>
                <a:spcPts val="0"/>
              </a:spcBef>
              <a:buSzPts val="1800"/>
              <a:defRPr sz="1800">
                <a:latin typeface="Cambria"/>
                <a:ea typeface="Cambria"/>
                <a:cs typeface="Cambria"/>
                <a:sym typeface="Cambria"/>
              </a:defRPr>
            </a:pPr>
            <a:r>
              <a:t>Existing methods and drawbacks</a:t>
            </a:r>
          </a:p>
          <a:p>
            <a:pPr marL="495300" indent="-342900" algn="just">
              <a:lnSpc>
                <a:spcPct val="200000"/>
              </a:lnSpc>
              <a:spcBef>
                <a:spcPts val="0"/>
              </a:spcBef>
              <a:buSzPts val="1800"/>
              <a:defRPr sz="1800">
                <a:latin typeface="Cambria"/>
                <a:ea typeface="Cambria"/>
                <a:cs typeface="Cambria"/>
                <a:sym typeface="Cambria"/>
              </a:defRPr>
            </a:pPr>
            <a:r>
              <a:t>Proposed method and Feasibility study</a:t>
            </a:r>
          </a:p>
          <a:p>
            <a:pPr marL="495300" indent="-342900" algn="just">
              <a:lnSpc>
                <a:spcPct val="200000"/>
              </a:lnSpc>
              <a:spcBef>
                <a:spcPts val="0"/>
              </a:spcBef>
              <a:buSzPts val="1800"/>
              <a:defRPr sz="1800">
                <a:latin typeface="Cambria"/>
                <a:ea typeface="Cambria"/>
                <a:cs typeface="Cambria"/>
                <a:sym typeface="Cambria"/>
              </a:defRPr>
            </a:pPr>
            <a:r>
              <a:t>Architecture Diagram</a:t>
            </a:r>
          </a:p>
          <a:p>
            <a:pPr marL="495300" indent="-342900" algn="just">
              <a:lnSpc>
                <a:spcPct val="200000"/>
              </a:lnSpc>
              <a:spcBef>
                <a:spcPts val="0"/>
              </a:spcBef>
              <a:buSzPts val="1800"/>
              <a:defRPr sz="1800">
                <a:latin typeface="Cambria"/>
                <a:ea typeface="Cambria"/>
                <a:cs typeface="Cambria"/>
                <a:sym typeface="Cambria"/>
              </a:defRPr>
            </a:pPr>
            <a:r>
              <a:t>Modules</a:t>
            </a:r>
          </a:p>
          <a:p>
            <a:pPr marL="495300" indent="-342900" algn="just">
              <a:lnSpc>
                <a:spcPct val="200000"/>
              </a:lnSpc>
              <a:spcBef>
                <a:spcPts val="0"/>
              </a:spcBef>
              <a:buSzPts val="1800"/>
              <a:defRPr sz="1800">
                <a:latin typeface="Cambria"/>
                <a:ea typeface="Cambria"/>
                <a:cs typeface="Cambria"/>
                <a:sym typeface="Cambria"/>
              </a:defRPr>
            </a:pPr>
            <a:r>
              <a:t>Hardware and Software Details</a:t>
            </a:r>
          </a:p>
          <a:p>
            <a:pPr marL="495300" indent="-342900" algn="just">
              <a:lnSpc>
                <a:spcPct val="200000"/>
              </a:lnSpc>
              <a:spcBef>
                <a:spcPts val="0"/>
              </a:spcBef>
              <a:buSzPts val="1800"/>
              <a:defRPr sz="1800">
                <a:latin typeface="Cambria"/>
                <a:ea typeface="Cambria"/>
                <a:cs typeface="Cambria"/>
                <a:sym typeface="Cambria"/>
              </a:defRPr>
            </a:pPr>
            <a:r>
              <a:t>Timeline(Gantt Chart)</a:t>
            </a:r>
          </a:p>
          <a:p>
            <a:pPr marL="495300" indent="-342900" algn="just">
              <a:lnSpc>
                <a:spcPct val="200000"/>
              </a:lnSpc>
              <a:spcBef>
                <a:spcPts val="0"/>
              </a:spcBef>
              <a:buSzPts val="1800"/>
              <a:defRPr sz="1800">
                <a:latin typeface="Cambria"/>
                <a:ea typeface="Cambria"/>
                <a:cs typeface="Cambria"/>
                <a:sym typeface="Cambria"/>
              </a:defRPr>
            </a:pPr>
            <a:r>
              <a:t>References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Google Shape;96;p14"/>
          <p:cNvSpPr txBox="1">
            <a:spLocks noGrp="1"/>
          </p:cNvSpPr>
          <p:nvPr>
            <p:ph type="title"/>
          </p:nvPr>
        </p:nvSpPr>
        <p:spPr>
          <a:prstGeom prst="rect">
            <a:avLst/>
          </a:prstGeom>
        </p:spPr>
        <p:txBody>
          <a:bodyPr/>
          <a:lstStyle>
            <a:lvl1pPr defTabSz="868680">
              <a:defRPr sz="2660">
                <a:latin typeface="Cambria"/>
                <a:ea typeface="Cambria"/>
                <a:cs typeface="Cambria"/>
                <a:sym typeface="Cambria"/>
              </a:defRPr>
            </a:lvl1pPr>
          </a:lstStyle>
          <a:p>
            <a:r>
              <a:t>Literature Survey</a:t>
            </a:r>
          </a:p>
        </p:txBody>
      </p:sp>
      <p:sp>
        <p:nvSpPr>
          <p:cNvPr id="152" name="Google Shape;97;p14"/>
          <p:cNvSpPr txBox="1">
            <a:spLocks noGrp="1"/>
          </p:cNvSpPr>
          <p:nvPr>
            <p:ph type="body" idx="1"/>
          </p:nvPr>
        </p:nvSpPr>
        <p:spPr>
          <a:xfrm>
            <a:off x="655782" y="1163714"/>
            <a:ext cx="10668001" cy="4226859"/>
          </a:xfrm>
          <a:prstGeom prst="rect">
            <a:avLst/>
          </a:prstGeom>
        </p:spPr>
        <p:txBody>
          <a:bodyPr/>
          <a:lstStyle/>
          <a:p>
            <a:pPr marL="180473" indent="-180473" defTabSz="12700">
              <a:spcBef>
                <a:spcPts val="0"/>
              </a:spcBef>
              <a:buClrTx/>
              <a:buSzPct val="100000"/>
              <a:buFontTx/>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The development of intelligent personal finance systems draws upon advancements in</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1">
                <a:latin typeface="Times New Roman"/>
                <a:ea typeface="Times New Roman"/>
                <a:cs typeface="Times New Roman"/>
                <a:sym typeface="Times New Roman"/>
              </a:defRPr>
            </a:pPr>
            <a:r>
              <a:t>   natural language processing (NLP), visualization frameworks, machine learning,</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   </a:t>
            </a:r>
            <a:r>
              <a:rPr b="1"/>
              <a:t>and financial technology innovations</a:t>
            </a:r>
            <a:r>
              <a:t>. Several studies and tools have shaped this field,</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   providing insights that directly inform the design of the Smart Personal Finance</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   Automator.</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endParaRP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1">
                <a:solidFill>
                  <a:schemeClr val="accent1">
                    <a:satOff val="-4409"/>
                    <a:lumOff val="-10509"/>
                  </a:schemeClr>
                </a:solidFill>
                <a:latin typeface="Times New Roman"/>
                <a:ea typeface="Times New Roman"/>
                <a:cs typeface="Times New Roman"/>
                <a:sym typeface="Times New Roman"/>
              </a:defRPr>
            </a:pPr>
            <a:r>
              <a:t>A. Natural Language Processing Foundations</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Bird, Klein, and Loper [1] provided one of the earliest and most comprehensive resources</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for applying NLP in real-world tasks through their work </a:t>
            </a:r>
            <a:r>
              <a:rPr i="1"/>
              <a:t>Natural Language Processing</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rPr i="1"/>
              <a:t>with Python</a:t>
            </a:r>
            <a:r>
              <a:t>. Their book laid the groundwork for tokenization, parsing, and entity</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recognition, which remain essential for analyzing unstructured financial text. Building on</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this foundation, spaCy [3] has emerged as a modern NLP library offering high-</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performance entity extraction and classification capabilities. Its industrial-strength</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pipeline makes it particularly useful for tasks like identifying transaction amounts,</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merchants, and dates in SMS and email messages.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Google Shape;96;p14"/>
          <p:cNvSpPr txBox="1">
            <a:spLocks noGrp="1"/>
          </p:cNvSpPr>
          <p:nvPr>
            <p:ph type="title"/>
          </p:nvPr>
        </p:nvSpPr>
        <p:spPr>
          <a:prstGeom prst="rect">
            <a:avLst/>
          </a:prstGeom>
        </p:spPr>
        <p:txBody>
          <a:bodyPr/>
          <a:lstStyle>
            <a:lvl1pPr defTabSz="868680">
              <a:defRPr sz="2660">
                <a:latin typeface="Cambria"/>
                <a:ea typeface="Cambria"/>
                <a:cs typeface="Cambria"/>
                <a:sym typeface="Cambria"/>
              </a:defRPr>
            </a:lvl1pPr>
          </a:lstStyle>
          <a:p>
            <a:r>
              <a:t>Literature Survey</a:t>
            </a:r>
          </a:p>
        </p:txBody>
      </p:sp>
      <p:sp>
        <p:nvSpPr>
          <p:cNvPr id="155" name="Google Shape;97;p14"/>
          <p:cNvSpPr txBox="1">
            <a:spLocks noGrp="1"/>
          </p:cNvSpPr>
          <p:nvPr>
            <p:ph type="body" idx="1"/>
          </p:nvPr>
        </p:nvSpPr>
        <p:spPr>
          <a:xfrm>
            <a:off x="129163" y="1066661"/>
            <a:ext cx="11194620" cy="4945780"/>
          </a:xfrm>
          <a:prstGeom prst="rect">
            <a:avLst/>
          </a:prstGeom>
        </p:spPr>
        <p:txBody>
          <a:bodyPr/>
          <a:lstStyle/>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1">
                <a:solidFill>
                  <a:schemeClr val="accent1">
                    <a:satOff val="-4409"/>
                    <a:lumOff val="-10509"/>
                  </a:schemeClr>
                </a:solidFill>
                <a:latin typeface="Times New Roman"/>
                <a:ea typeface="Times New Roman"/>
                <a:cs typeface="Times New Roman"/>
                <a:sym typeface="Times New Roman"/>
              </a:defRPr>
            </a:pPr>
            <a:r>
              <a:t>B. Visualization and User Interaction</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The role of visualization in decision-making has been well-documented. Chen, Chiang, and Storey [7] highlighted how business intelligence and analytics transform large volumes of raw data into meaningful insights that support strategic choices. Tools like Plotly’s Dash [2] extend this idea by offering interactive, web-based dashboards suitable for personal use. These dashboards allow users to track expenses visually, spot trends, and make informed financial decisions in real time.</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endParaRP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b="1">
                <a:solidFill>
                  <a:schemeClr val="accent1">
                    <a:satOff val="-4409"/>
                    <a:lumOff val="-10509"/>
                  </a:schemeClr>
                </a:solidFill>
                <a:latin typeface="Times New Roman"/>
                <a:ea typeface="Times New Roman"/>
                <a:cs typeface="Times New Roman"/>
                <a:sym typeface="Times New Roman"/>
              </a:defRPr>
            </a:pPr>
            <a:r>
              <a:t>C. Machine Learning and Deep Learning Applications</a:t>
            </a:r>
          </a:p>
          <a:p>
            <a:pPr marL="0" indent="0" defTabSz="12700">
              <a:spcBef>
                <a:spcPts val="0"/>
              </a:spcBef>
              <a:buClrTx/>
              <a:buSzTx/>
              <a:buFontTx/>
              <a:buNone/>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1800">
                <a:latin typeface="Times New Roman"/>
                <a:ea typeface="Times New Roman"/>
                <a:cs typeface="Times New Roman"/>
                <a:sym typeface="Times New Roman"/>
              </a:defRPr>
            </a:pPr>
            <a:r>
              <a:t>Abadi et al. [4] introduced TensorFlow, a scalable machine learning framework that enables the training and deployment of large models across diverse domains. While primarily used for enterprise-level AI applications, TensorFlow provides the backbone for experiments in financial text classification and predictive analytics. LeCun, Bengio, and Hinton [8] further advanced the field with deep learning, showing its potential for complex tasks such as fraud detection, anomaly detection, and financial forecasting. Syntetos and Boylan [9] demonstrated how machine learning can be applied specifically for financial decision-making by forecasting expenses and budgeting needs. Together, these contributions show how AI techniques can improve financial planning and enhance user trust through accurate predictions.</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Google Shape;96;p14"/>
          <p:cNvSpPr txBox="1">
            <a:spLocks noGrp="1"/>
          </p:cNvSpPr>
          <p:nvPr>
            <p:ph type="title"/>
          </p:nvPr>
        </p:nvSpPr>
        <p:spPr>
          <a:prstGeom prst="rect">
            <a:avLst/>
          </a:prstGeom>
        </p:spPr>
        <p:txBody>
          <a:bodyPr/>
          <a:lstStyle>
            <a:lvl1pPr defTabSz="868680">
              <a:defRPr sz="2660">
                <a:latin typeface="Cambria"/>
                <a:ea typeface="Cambria"/>
                <a:cs typeface="Cambria"/>
                <a:sym typeface="Cambria"/>
              </a:defRPr>
            </a:lvl1pPr>
          </a:lstStyle>
          <a:p>
            <a:r>
              <a:t>Literature Survey</a:t>
            </a:r>
          </a:p>
        </p:txBody>
      </p:sp>
      <p:sp>
        <p:nvSpPr>
          <p:cNvPr id="158" name="Google Shape;97;p14"/>
          <p:cNvSpPr txBox="1">
            <a:spLocks noGrp="1"/>
          </p:cNvSpPr>
          <p:nvPr>
            <p:ph type="body" idx="1"/>
          </p:nvPr>
        </p:nvSpPr>
        <p:spPr>
          <a:xfrm>
            <a:off x="655782" y="1163714"/>
            <a:ext cx="10668001" cy="4226859"/>
          </a:xfrm>
          <a:prstGeom prst="rect">
            <a:avLst/>
          </a:prstGeom>
        </p:spPr>
        <p:txBody>
          <a:bodyPr/>
          <a:lstStyle/>
          <a:p>
            <a:pPr marL="0" indent="0">
              <a:spcBef>
                <a:spcPts val="0"/>
              </a:spcBef>
              <a:buClrTx/>
              <a:buSzTx/>
              <a:buFont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1764" b="1">
                <a:solidFill>
                  <a:schemeClr val="accent1">
                    <a:satOff val="-4409"/>
                    <a:lumOff val="-10509"/>
                  </a:schemeClr>
                </a:solidFill>
                <a:latin typeface="Times New Roman"/>
                <a:ea typeface="Times New Roman"/>
                <a:cs typeface="Times New Roman"/>
                <a:sym typeface="Times New Roman"/>
              </a:defRPr>
            </a:pPr>
            <a:r>
              <a:t>D. FinTech and Personal Finance Systems</a:t>
            </a:r>
          </a:p>
          <a:p>
            <a:pPr marL="0" indent="0">
              <a:spcBef>
                <a:spcPts val="0"/>
              </a:spcBef>
              <a:buClrTx/>
              <a:buSzTx/>
              <a:buFont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1764">
                <a:latin typeface="Times New Roman"/>
                <a:ea typeface="Times New Roman"/>
                <a:cs typeface="Times New Roman"/>
                <a:sym typeface="Times New Roman"/>
              </a:defRPr>
            </a:pPr>
            <a:r>
              <a:t>The shift towards digitalization in financial services has been widely studied. Agarwal and Dhar [5] reviewed the role of digital technologies in promoting financial inclusion, especially in developing economies. Their findings stress the importance of user-friendly, accessible platforms that adapt to local contexts. Jain, Kumar, and Singh [6] specifically focused on AI-driven personal finance management systems, showing that categorization and recommendation features can enhance budgeting practices. Similarly, Singh and Malhotra [10] analyzed the disruptive role of FinTech in reshaping financial services, noting opportunities in personalized finance and consumer-oriented applications.</a:t>
            </a:r>
          </a:p>
          <a:p>
            <a:pPr marL="0" indent="0">
              <a:spcBef>
                <a:spcPts val="0"/>
              </a:spcBef>
              <a:buClrTx/>
              <a:buSzTx/>
              <a:buFont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1764">
                <a:latin typeface="Times New Roman"/>
                <a:ea typeface="Times New Roman"/>
                <a:cs typeface="Times New Roman"/>
                <a:sym typeface="Times New Roman"/>
              </a:defRPr>
            </a:pPr>
            <a:endParaRPr/>
          </a:p>
          <a:p>
            <a:pPr marL="0" indent="0">
              <a:spcBef>
                <a:spcPts val="0"/>
              </a:spcBef>
              <a:buClrTx/>
              <a:buSzTx/>
              <a:buFont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1764">
                <a:latin typeface="Times New Roman"/>
                <a:ea typeface="Times New Roman"/>
                <a:cs typeface="Times New Roman"/>
                <a:sym typeface="Times New Roman"/>
              </a:defRPr>
            </a:pPr>
            <a:r>
              <a:rPr b="1">
                <a:solidFill>
                  <a:schemeClr val="accent1">
                    <a:satOff val="-4409"/>
                    <a:lumOff val="-10509"/>
                  </a:schemeClr>
                </a:solidFill>
              </a:rPr>
              <a:t>E. Research Gap</a:t>
            </a:r>
          </a:p>
          <a:p>
            <a:pPr marL="0" indent="0">
              <a:spcBef>
                <a:spcPts val="0"/>
              </a:spcBef>
              <a:buClrTx/>
              <a:buSzTx/>
              <a:buFontTx/>
              <a:buNone/>
              <a:tabLst>
                <a:tab pos="342900" algn="l"/>
                <a:tab pos="685800" algn="l"/>
                <a:tab pos="1041400" algn="l"/>
                <a:tab pos="1384300" algn="l"/>
                <a:tab pos="1739900" algn="l"/>
                <a:tab pos="2082800" algn="l"/>
                <a:tab pos="2438400" algn="l"/>
                <a:tab pos="2781300" algn="l"/>
                <a:tab pos="3124200" algn="l"/>
                <a:tab pos="3479800" algn="l"/>
                <a:tab pos="3822700" algn="l"/>
                <a:tab pos="4178300" algn="l"/>
              </a:tabLst>
              <a:defRPr sz="1764">
                <a:latin typeface="Times New Roman"/>
                <a:ea typeface="Times New Roman"/>
                <a:cs typeface="Times New Roman"/>
                <a:sym typeface="Times New Roman"/>
              </a:defRPr>
            </a:pPr>
            <a:r>
              <a:t>While existing literature demonstrates the strengths of NLP, machine learning, visualization, and FinTech in isolation, their integration into a single system tailored for individuals remains underexplored. Most prior systems either focused on structured data inputs, enterprise applications, or high-level analytics. Very few addressed the </a:t>
            </a:r>
            <a:r>
              <a:rPr b="1"/>
              <a:t>real-time </a:t>
            </a:r>
            <a:r>
              <a:t>extraction of unstructured SMS/email data, combined with interactive dashboards and personalized savings recommendations. The Smart Personal Finance Automator aims to fill this gap by unifying these technologies into a seamless platform that improves everyday money management.</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Google Shape;96;p14"/>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Abstract</a:t>
            </a:r>
          </a:p>
        </p:txBody>
      </p:sp>
      <p:sp>
        <p:nvSpPr>
          <p:cNvPr id="161" name="Google Shape;97;p14"/>
          <p:cNvSpPr txBox="1">
            <a:spLocks noGrp="1"/>
          </p:cNvSpPr>
          <p:nvPr>
            <p:ph type="body" idx="1"/>
          </p:nvPr>
        </p:nvSpPr>
        <p:spPr>
          <a:xfrm>
            <a:off x="655782" y="1163714"/>
            <a:ext cx="10668001" cy="4226859"/>
          </a:xfrm>
          <a:prstGeom prst="rect">
            <a:avLst/>
          </a:prstGeom>
        </p:spPr>
        <p:txBody>
          <a:bodyPr/>
          <a:lstStyle/>
          <a:p>
            <a:pPr>
              <a:lnSpc>
                <a:spcPct val="150000"/>
              </a:lnSpc>
              <a:buSzPts val="1800"/>
              <a:defRPr sz="1800">
                <a:latin typeface="Cambria"/>
                <a:ea typeface="Cambria"/>
                <a:cs typeface="Cambria"/>
                <a:sym typeface="Cambria"/>
              </a:defRPr>
            </a:pPr>
            <a:r>
              <a:t>Personal finance management is often manual, time-consuming, and error-prone.</a:t>
            </a:r>
          </a:p>
          <a:p>
            <a:pPr>
              <a:lnSpc>
                <a:spcPct val="150000"/>
              </a:lnSpc>
              <a:buSzPts val="1800"/>
              <a:defRPr sz="1800">
                <a:latin typeface="Cambria"/>
                <a:ea typeface="Cambria"/>
                <a:cs typeface="Cambria"/>
                <a:sym typeface="Cambria"/>
              </a:defRPr>
            </a:pPr>
            <a:r>
              <a:t>The Smart Personal Finance Automator eliminates manual expense entry by extracting and analyzing bank SMS/email alerts.</a:t>
            </a:r>
          </a:p>
          <a:p>
            <a:pPr>
              <a:lnSpc>
                <a:spcPct val="150000"/>
              </a:lnSpc>
              <a:buSzPts val="1800"/>
              <a:defRPr sz="1800">
                <a:latin typeface="Cambria"/>
                <a:ea typeface="Cambria"/>
                <a:cs typeface="Cambria"/>
                <a:sym typeface="Cambria"/>
              </a:defRPr>
            </a:pPr>
            <a:r>
              <a:t>With Natural Language Processing (NLP), unstructured messages are converted into structured data (transaction type, amount, vendor, date).</a:t>
            </a:r>
          </a:p>
          <a:p>
            <a:pPr>
              <a:lnSpc>
                <a:spcPct val="150000"/>
              </a:lnSpc>
              <a:buSzPts val="1800"/>
              <a:defRPr sz="1800">
                <a:latin typeface="Cambria"/>
                <a:ea typeface="Cambria"/>
                <a:cs typeface="Cambria"/>
                <a:sym typeface="Cambria"/>
              </a:defRPr>
            </a:pPr>
            <a:r>
              <a:t>Data is categorized and visualized using interactive dashboards powered by Plotly.</a:t>
            </a:r>
          </a:p>
          <a:p>
            <a:pPr>
              <a:lnSpc>
                <a:spcPct val="150000"/>
              </a:lnSpc>
              <a:buSzPts val="1800"/>
              <a:defRPr sz="1800">
                <a:latin typeface="Cambria"/>
                <a:ea typeface="Cambria"/>
                <a:cs typeface="Cambria"/>
                <a:sym typeface="Cambria"/>
              </a:defRPr>
            </a:pPr>
            <a:r>
              <a:t>Personalized savings recommendations help users improve budgeting habits.</a:t>
            </a:r>
          </a:p>
          <a:p>
            <a:pPr>
              <a:lnSpc>
                <a:spcPct val="150000"/>
              </a:lnSpc>
              <a:buSzPts val="1800"/>
              <a:defRPr sz="1800">
                <a:latin typeface="Cambria"/>
                <a:ea typeface="Cambria"/>
                <a:cs typeface="Cambria"/>
                <a:sym typeface="Cambria"/>
              </a:defRPr>
            </a:pPr>
            <a:r>
              <a:t>Secure design ensures data privacy with authentication and encryption.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Google Shape;114;p17"/>
          <p:cNvSpPr txBox="1">
            <a:spLocks noGrp="1"/>
          </p:cNvSpPr>
          <p:nvPr>
            <p:ph type="title"/>
          </p:nvPr>
        </p:nvSpPr>
        <p:spPr>
          <a:xfrm>
            <a:off x="812800" y="274638"/>
            <a:ext cx="10668000" cy="487501"/>
          </a:xfrm>
          <a:prstGeom prst="rect">
            <a:avLst/>
          </a:prstGeom>
        </p:spPr>
        <p:txBody>
          <a:bodyPr/>
          <a:lstStyle>
            <a:lvl1pPr indent="144779" defTabSz="868680">
              <a:lnSpc>
                <a:spcPct val="200000"/>
              </a:lnSpc>
              <a:defRPr sz="2660">
                <a:latin typeface="Cambria"/>
                <a:ea typeface="Cambria"/>
                <a:cs typeface="Cambria"/>
                <a:sym typeface="Cambria"/>
              </a:defRPr>
            </a:lvl1pPr>
          </a:lstStyle>
          <a:p>
            <a:r>
              <a:t>Objectives</a:t>
            </a:r>
          </a:p>
        </p:txBody>
      </p:sp>
      <p:sp>
        <p:nvSpPr>
          <p:cNvPr id="164" name="Rectangle 3"/>
          <p:cNvSpPr txBox="1">
            <a:spLocks noGrp="1"/>
          </p:cNvSpPr>
          <p:nvPr>
            <p:ph type="body" sz="half" idx="1"/>
          </p:nvPr>
        </p:nvSpPr>
        <p:spPr>
          <a:xfrm>
            <a:off x="812799" y="1073584"/>
            <a:ext cx="8967521" cy="2585324"/>
          </a:xfrm>
          <a:prstGeom prst="rect">
            <a:avLst/>
          </a:prstGeom>
        </p:spPr>
        <p:txBody>
          <a:bodyPr lIns="45719" tIns="45719" rIns="45719" bIns="45719" anchor="ctr"/>
          <a:lstStyle/>
          <a:p>
            <a:pPr marL="0" indent="0">
              <a:lnSpc>
                <a:spcPct val="150000"/>
              </a:lnSpc>
              <a:spcBef>
                <a:spcPts val="0"/>
              </a:spcBef>
              <a:buClrTx/>
              <a:buSzPct val="100000"/>
              <a:buFontTx/>
              <a:defRPr sz="1800" b="1">
                <a:latin typeface="Cambria"/>
                <a:ea typeface="Cambria"/>
                <a:cs typeface="Cambria"/>
                <a:sym typeface="Cambria"/>
              </a:defRPr>
            </a:pPr>
            <a:r>
              <a:t>Automation:</a:t>
            </a:r>
            <a:r>
              <a:rPr b="0"/>
              <a:t> Extract transactions from SMS and emails automatically.</a:t>
            </a:r>
          </a:p>
          <a:p>
            <a:pPr marL="0" indent="0">
              <a:lnSpc>
                <a:spcPct val="150000"/>
              </a:lnSpc>
              <a:spcBef>
                <a:spcPts val="0"/>
              </a:spcBef>
              <a:buClrTx/>
              <a:buSzPct val="100000"/>
              <a:buFontTx/>
              <a:defRPr sz="1800" b="1">
                <a:latin typeface="Cambria"/>
                <a:ea typeface="Cambria"/>
                <a:cs typeface="Cambria"/>
                <a:sym typeface="Cambria"/>
              </a:defRPr>
            </a:pPr>
            <a:r>
              <a:t>Categorization:</a:t>
            </a:r>
            <a:r>
              <a:rPr b="0"/>
              <a:t> Use NLP-based classification to organize spending into</a:t>
            </a:r>
          </a:p>
          <a:p>
            <a:pPr marL="0" indent="0">
              <a:lnSpc>
                <a:spcPct val="150000"/>
              </a:lnSpc>
              <a:spcBef>
                <a:spcPts val="0"/>
              </a:spcBef>
              <a:buSzTx/>
              <a:buNone/>
              <a:defRPr sz="1800">
                <a:latin typeface="Cambria"/>
                <a:ea typeface="Cambria"/>
                <a:cs typeface="Cambria"/>
                <a:sym typeface="Cambria"/>
              </a:defRPr>
            </a:pPr>
            <a:r>
              <a:t> categories (groceries, utilities, entertainment, etc.).</a:t>
            </a:r>
          </a:p>
          <a:p>
            <a:pPr marL="0" indent="0">
              <a:lnSpc>
                <a:spcPct val="150000"/>
              </a:lnSpc>
              <a:spcBef>
                <a:spcPts val="0"/>
              </a:spcBef>
              <a:buClrTx/>
              <a:buSzPct val="100000"/>
              <a:buFontTx/>
              <a:defRPr sz="1800" b="1">
                <a:latin typeface="Cambria"/>
                <a:ea typeface="Cambria"/>
                <a:cs typeface="Cambria"/>
                <a:sym typeface="Cambria"/>
              </a:defRPr>
            </a:pPr>
            <a:r>
              <a:t>Visualization:</a:t>
            </a:r>
            <a:r>
              <a:rPr b="0"/>
              <a:t> Present interactive and insightful dashboards.</a:t>
            </a:r>
          </a:p>
          <a:p>
            <a:pPr marL="0" indent="0">
              <a:lnSpc>
                <a:spcPct val="150000"/>
              </a:lnSpc>
              <a:spcBef>
                <a:spcPts val="0"/>
              </a:spcBef>
              <a:buClrTx/>
              <a:buSzPct val="100000"/>
              <a:buFontTx/>
              <a:defRPr sz="1800" b="1">
                <a:latin typeface="Cambria"/>
                <a:ea typeface="Cambria"/>
                <a:cs typeface="Cambria"/>
                <a:sym typeface="Cambria"/>
              </a:defRPr>
            </a:pPr>
            <a:r>
              <a:t>Personalization:</a:t>
            </a:r>
            <a:r>
              <a:rPr b="0"/>
              <a:t> Recommend saving strategies tailored to the user’s financial behavior.</a:t>
            </a:r>
          </a:p>
          <a:p>
            <a:pPr marL="0" indent="0">
              <a:lnSpc>
                <a:spcPct val="150000"/>
              </a:lnSpc>
              <a:spcBef>
                <a:spcPts val="0"/>
              </a:spcBef>
              <a:buClrTx/>
              <a:buSzPct val="100000"/>
              <a:buFontTx/>
              <a:defRPr sz="1800" b="1">
                <a:latin typeface="Cambria"/>
                <a:ea typeface="Cambria"/>
                <a:cs typeface="Cambria"/>
                <a:sym typeface="Cambria"/>
              </a:defRPr>
            </a:pPr>
            <a:r>
              <a:t>Security:</a:t>
            </a:r>
            <a:r>
              <a:rPr b="0"/>
              <a:t> Ensure user authentication and encrypted storage of sensitive data.</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Google Shape;114;p17"/>
          <p:cNvSpPr txBox="1">
            <a:spLocks noGrp="1"/>
          </p:cNvSpPr>
          <p:nvPr>
            <p:ph type="title"/>
          </p:nvPr>
        </p:nvSpPr>
        <p:spPr>
          <a:xfrm>
            <a:off x="812800" y="274638"/>
            <a:ext cx="10668000" cy="487501"/>
          </a:xfrm>
          <a:prstGeom prst="rect">
            <a:avLst/>
          </a:prstGeom>
        </p:spPr>
        <p:txBody>
          <a:bodyPr/>
          <a:lstStyle>
            <a:lvl1pPr indent="144779" defTabSz="868680">
              <a:lnSpc>
                <a:spcPct val="200000"/>
              </a:lnSpc>
              <a:defRPr sz="2660">
                <a:latin typeface="Cambria"/>
                <a:ea typeface="Cambria"/>
                <a:cs typeface="Cambria"/>
                <a:sym typeface="Cambria"/>
              </a:defRPr>
            </a:lvl1pPr>
          </a:lstStyle>
          <a:p>
            <a:r>
              <a:t>Existing Methods and Drawbacks</a:t>
            </a:r>
          </a:p>
        </p:txBody>
      </p:sp>
      <p:sp>
        <p:nvSpPr>
          <p:cNvPr id="167" name="Rectangle 1"/>
          <p:cNvSpPr txBox="1">
            <a:spLocks noGrp="1"/>
          </p:cNvSpPr>
          <p:nvPr>
            <p:ph type="body" idx="1"/>
          </p:nvPr>
        </p:nvSpPr>
        <p:spPr>
          <a:xfrm>
            <a:off x="812799" y="1088317"/>
            <a:ext cx="7787711" cy="4939814"/>
          </a:xfrm>
          <a:prstGeom prst="rect">
            <a:avLst/>
          </a:prstGeom>
        </p:spPr>
        <p:txBody>
          <a:bodyPr lIns="45719" tIns="45719" rIns="45719" bIns="45719" anchor="ctr"/>
          <a:lstStyle/>
          <a:p>
            <a:pPr marL="0" indent="0">
              <a:lnSpc>
                <a:spcPct val="150000"/>
              </a:lnSpc>
              <a:spcBef>
                <a:spcPts val="0"/>
              </a:spcBef>
              <a:buClrTx/>
              <a:buSzPct val="100000"/>
              <a:buFontTx/>
              <a:defRPr sz="1800" b="1">
                <a:latin typeface="Cambria"/>
                <a:ea typeface="Cambria"/>
                <a:cs typeface="Cambria"/>
                <a:sym typeface="Cambria"/>
              </a:defRPr>
            </a:pPr>
            <a:r>
              <a:t>Manual Methods:</a:t>
            </a:r>
          </a:p>
          <a:p>
            <a:pPr marL="0" indent="0">
              <a:lnSpc>
                <a:spcPct val="150000"/>
              </a:lnSpc>
              <a:spcBef>
                <a:spcPts val="0"/>
              </a:spcBef>
              <a:buSzTx/>
              <a:buNone/>
              <a:defRPr sz="1800">
                <a:latin typeface="Cambria"/>
                <a:ea typeface="Cambria"/>
                <a:cs typeface="Cambria"/>
                <a:sym typeface="Cambria"/>
              </a:defRPr>
            </a:pPr>
            <a:r>
              <a:t>      Spreadsheets or mobile notes.</a:t>
            </a:r>
          </a:p>
          <a:p>
            <a:pPr marL="0" indent="0">
              <a:lnSpc>
                <a:spcPct val="150000"/>
              </a:lnSpc>
              <a:spcBef>
                <a:spcPts val="0"/>
              </a:spcBef>
              <a:buSzTx/>
              <a:buNone/>
              <a:defRPr sz="1800">
                <a:latin typeface="Cambria"/>
                <a:ea typeface="Cambria"/>
                <a:cs typeface="Cambria"/>
                <a:sym typeface="Cambria"/>
              </a:defRPr>
            </a:pPr>
            <a:r>
              <a:t>      Drawback → Tedious, error-prone, not scalable.</a:t>
            </a:r>
          </a:p>
          <a:p>
            <a:pPr marL="0" indent="0">
              <a:lnSpc>
                <a:spcPct val="150000"/>
              </a:lnSpc>
              <a:spcBef>
                <a:spcPts val="0"/>
              </a:spcBef>
              <a:buClrTx/>
              <a:buSzPct val="100000"/>
              <a:buFontTx/>
              <a:defRPr sz="1800" b="1">
                <a:latin typeface="Cambria"/>
                <a:ea typeface="Cambria"/>
                <a:cs typeface="Cambria"/>
                <a:sym typeface="Cambria"/>
              </a:defRPr>
            </a:pPr>
            <a:r>
              <a:t>Bank Apps:</a:t>
            </a:r>
          </a:p>
          <a:p>
            <a:pPr marL="0" indent="0">
              <a:lnSpc>
                <a:spcPct val="150000"/>
              </a:lnSpc>
              <a:spcBef>
                <a:spcPts val="0"/>
              </a:spcBef>
              <a:buSzTx/>
              <a:buNone/>
              <a:defRPr sz="1800">
                <a:latin typeface="Cambria"/>
                <a:ea typeface="Cambria"/>
                <a:cs typeface="Cambria"/>
                <a:sym typeface="Cambria"/>
              </a:defRPr>
            </a:pPr>
            <a:r>
              <a:t>      Provide statements but restricted to single bank accounts.</a:t>
            </a:r>
          </a:p>
          <a:p>
            <a:pPr marL="0" indent="0">
              <a:lnSpc>
                <a:spcPct val="150000"/>
              </a:lnSpc>
              <a:spcBef>
                <a:spcPts val="0"/>
              </a:spcBef>
              <a:buSzTx/>
              <a:buNone/>
              <a:defRPr sz="1800">
                <a:latin typeface="Cambria"/>
                <a:ea typeface="Cambria"/>
                <a:cs typeface="Cambria"/>
                <a:sym typeface="Cambria"/>
              </a:defRPr>
            </a:pPr>
            <a:r>
              <a:t>      Drawback → Lack of consolidated view across multiple banks.</a:t>
            </a:r>
          </a:p>
          <a:p>
            <a:pPr marL="0" indent="0">
              <a:lnSpc>
                <a:spcPct val="150000"/>
              </a:lnSpc>
              <a:spcBef>
                <a:spcPts val="0"/>
              </a:spcBef>
              <a:buClrTx/>
              <a:buSzPct val="100000"/>
              <a:buFontTx/>
              <a:defRPr sz="1800" b="1">
                <a:latin typeface="Cambria"/>
                <a:ea typeface="Cambria"/>
                <a:cs typeface="Cambria"/>
                <a:sym typeface="Cambria"/>
              </a:defRPr>
            </a:pPr>
            <a:r>
              <a:t>Third-Party Expense Trackers:</a:t>
            </a:r>
          </a:p>
          <a:p>
            <a:pPr marL="0" indent="0">
              <a:lnSpc>
                <a:spcPct val="150000"/>
              </a:lnSpc>
              <a:spcBef>
                <a:spcPts val="0"/>
              </a:spcBef>
              <a:buSzTx/>
              <a:buNone/>
              <a:defRPr sz="1800">
                <a:latin typeface="Cambria"/>
                <a:ea typeface="Cambria"/>
                <a:cs typeface="Cambria"/>
                <a:sym typeface="Cambria"/>
              </a:defRPr>
            </a:pPr>
            <a:r>
              <a:t>         Automate partially, but:</a:t>
            </a:r>
          </a:p>
          <a:p>
            <a:pPr marL="0" lvl="1" indent="457200">
              <a:lnSpc>
                <a:spcPct val="150000"/>
              </a:lnSpc>
              <a:spcBef>
                <a:spcPts val="0"/>
              </a:spcBef>
              <a:buSzTx/>
              <a:buNone/>
              <a:defRPr sz="1800">
                <a:latin typeface="Cambria"/>
                <a:ea typeface="Cambria"/>
                <a:cs typeface="Cambria"/>
                <a:sym typeface="Cambria"/>
              </a:defRPr>
            </a:pPr>
            <a:r>
              <a:t>Limited customization.</a:t>
            </a:r>
            <a:endParaRPr sz="2000"/>
          </a:p>
          <a:p>
            <a:pPr marL="0" lvl="1" indent="457200">
              <a:lnSpc>
                <a:spcPct val="150000"/>
              </a:lnSpc>
              <a:spcBef>
                <a:spcPts val="0"/>
              </a:spcBef>
              <a:buSzTx/>
              <a:buNone/>
              <a:defRPr sz="1800">
                <a:latin typeface="Cambria"/>
                <a:ea typeface="Cambria"/>
                <a:cs typeface="Cambria"/>
                <a:sym typeface="Cambria"/>
              </a:defRPr>
            </a:pPr>
            <a:r>
              <a:t>Often lack </a:t>
            </a:r>
            <a:r>
              <a:rPr b="1"/>
              <a:t>advanced analytics &amp; personalized insights</a:t>
            </a:r>
            <a:r>
              <a:t>.</a:t>
            </a:r>
            <a:endParaRPr sz="2000"/>
          </a:p>
          <a:p>
            <a:pPr marL="0" lvl="1" indent="457200">
              <a:lnSpc>
                <a:spcPct val="150000"/>
              </a:lnSpc>
              <a:spcBef>
                <a:spcPts val="0"/>
              </a:spcBef>
              <a:buSzTx/>
              <a:buNone/>
              <a:defRPr sz="1800">
                <a:latin typeface="Cambria"/>
                <a:ea typeface="Cambria"/>
                <a:cs typeface="Cambria"/>
                <a:sym typeface="Cambria"/>
              </a:defRPr>
            </a:pPr>
            <a:r>
              <a:t>Security/privacy concerns as financial data is stored on external servers.</a:t>
            </a:r>
            <a:endParaRPr sz="2000"/>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itle 1"/>
          <p:cNvSpPr txBox="1">
            <a:spLocks noGrp="1"/>
          </p:cNvSpPr>
          <p:nvPr>
            <p:ph type="title"/>
          </p:nvPr>
        </p:nvSpPr>
        <p:spPr>
          <a:xfrm>
            <a:off x="812800" y="145242"/>
            <a:ext cx="10668000" cy="990708"/>
          </a:xfrm>
          <a:prstGeom prst="rect">
            <a:avLst/>
          </a:prstGeom>
        </p:spPr>
        <p:txBody>
          <a:bodyPr/>
          <a:lstStyle>
            <a:lvl1pPr>
              <a:defRPr>
                <a:latin typeface="Cambria"/>
                <a:ea typeface="Cambria"/>
                <a:cs typeface="Cambria"/>
                <a:sym typeface="Cambria"/>
              </a:defRPr>
            </a:lvl1pPr>
          </a:lstStyle>
          <a:p>
            <a:r>
              <a:t>Proposed Methods and Feasibility Study</a:t>
            </a:r>
            <a:endParaRPr b="0">
              <a:solidFill>
                <a:srgbClr val="000000"/>
              </a:solidFill>
            </a:endParaRPr>
          </a:p>
        </p:txBody>
      </p:sp>
      <p:sp>
        <p:nvSpPr>
          <p:cNvPr id="170" name="Rectangle 2"/>
          <p:cNvSpPr txBox="1">
            <a:spLocks noGrp="1"/>
          </p:cNvSpPr>
          <p:nvPr>
            <p:ph type="body" sz="half" idx="1"/>
          </p:nvPr>
        </p:nvSpPr>
        <p:spPr>
          <a:xfrm>
            <a:off x="812800" y="1221310"/>
            <a:ext cx="8161209" cy="3277822"/>
          </a:xfrm>
          <a:prstGeom prst="rect">
            <a:avLst/>
          </a:prstGeom>
        </p:spPr>
        <p:txBody>
          <a:bodyPr lIns="45719" tIns="45719" rIns="45719" bIns="45719" anchor="ctr"/>
          <a:lstStyle/>
          <a:p>
            <a:pPr marL="0" indent="0">
              <a:lnSpc>
                <a:spcPct val="150000"/>
              </a:lnSpc>
              <a:spcBef>
                <a:spcPts val="0"/>
              </a:spcBef>
              <a:buSzTx/>
              <a:buNone/>
              <a:defRPr sz="1800" b="1">
                <a:latin typeface="Cambria"/>
                <a:ea typeface="Cambria"/>
                <a:cs typeface="Cambria"/>
                <a:sym typeface="Cambria"/>
              </a:defRPr>
            </a:pPr>
            <a:r>
              <a:t>Proposed Solution Flow:</a:t>
            </a:r>
          </a:p>
          <a:p>
            <a:pPr marL="0" indent="0">
              <a:lnSpc>
                <a:spcPct val="150000"/>
              </a:lnSpc>
              <a:spcBef>
                <a:spcPts val="0"/>
              </a:spcBef>
              <a:buClrTx/>
              <a:buSzPct val="100000"/>
              <a:buFontTx/>
              <a:buAutoNum type="arabicPeriod"/>
              <a:defRPr sz="1800">
                <a:latin typeface="Cambria"/>
                <a:ea typeface="Cambria"/>
                <a:cs typeface="Cambria"/>
                <a:sym typeface="Cambria"/>
              </a:defRPr>
            </a:pPr>
            <a:r>
              <a:t>Collect bank SMS/email data via APIs (Twilio/IMAP).</a:t>
            </a:r>
          </a:p>
          <a:p>
            <a:pPr marL="0" indent="0">
              <a:lnSpc>
                <a:spcPct val="150000"/>
              </a:lnSpc>
              <a:spcBef>
                <a:spcPts val="0"/>
              </a:spcBef>
              <a:buClrTx/>
              <a:buSzPct val="100000"/>
              <a:buFontTx/>
              <a:buAutoNum type="arabicPeriod" startAt="2"/>
              <a:defRPr sz="1800">
                <a:latin typeface="Cambria"/>
                <a:ea typeface="Cambria"/>
                <a:cs typeface="Cambria"/>
                <a:sym typeface="Cambria"/>
              </a:defRPr>
            </a:pPr>
            <a:r>
              <a:t>Apply </a:t>
            </a:r>
            <a:r>
              <a:rPr b="1"/>
              <a:t>NLP (spaCy, Regex)</a:t>
            </a:r>
            <a:r>
              <a:t> to extract structured details.</a:t>
            </a:r>
          </a:p>
          <a:p>
            <a:pPr marL="0" indent="0">
              <a:lnSpc>
                <a:spcPct val="150000"/>
              </a:lnSpc>
              <a:spcBef>
                <a:spcPts val="0"/>
              </a:spcBef>
              <a:buClrTx/>
              <a:buSzPct val="100000"/>
              <a:buFontTx/>
              <a:buAutoNum type="arabicPeriod" startAt="3"/>
              <a:defRPr sz="1800">
                <a:latin typeface="Cambria"/>
                <a:ea typeface="Cambria"/>
                <a:cs typeface="Cambria"/>
                <a:sym typeface="Cambria"/>
              </a:defRPr>
            </a:pPr>
            <a:r>
              <a:t>Categorize transactions into predefined categories (food, travel, shopping, etc.).</a:t>
            </a:r>
          </a:p>
          <a:p>
            <a:pPr marL="0" indent="0">
              <a:lnSpc>
                <a:spcPct val="150000"/>
              </a:lnSpc>
              <a:spcBef>
                <a:spcPts val="0"/>
              </a:spcBef>
              <a:buClrTx/>
              <a:buSzPct val="100000"/>
              <a:buFontTx/>
              <a:buAutoNum type="arabicPeriod" startAt="4"/>
              <a:defRPr sz="1800">
                <a:latin typeface="Cambria"/>
                <a:ea typeface="Cambria"/>
                <a:cs typeface="Cambria"/>
                <a:sym typeface="Cambria"/>
              </a:defRPr>
            </a:pPr>
            <a:r>
              <a:t>Store data securely in PostgreSQL/MySQL.</a:t>
            </a:r>
          </a:p>
          <a:p>
            <a:pPr marL="0" indent="0">
              <a:lnSpc>
                <a:spcPct val="150000"/>
              </a:lnSpc>
              <a:spcBef>
                <a:spcPts val="0"/>
              </a:spcBef>
              <a:buClrTx/>
              <a:buSzPct val="100000"/>
              <a:buFontTx/>
              <a:buAutoNum type="arabicPeriod" startAt="5"/>
              <a:defRPr sz="1800">
                <a:latin typeface="Cambria"/>
                <a:ea typeface="Cambria"/>
                <a:cs typeface="Cambria"/>
                <a:sym typeface="Cambria"/>
              </a:defRPr>
            </a:pPr>
            <a:r>
              <a:t>Display analytics via </a:t>
            </a:r>
            <a:r>
              <a:rPr b="1"/>
              <a:t>interactive dashboards (Plotly/Dash)</a:t>
            </a:r>
            <a:r>
              <a:t>.</a:t>
            </a:r>
          </a:p>
          <a:p>
            <a:pPr marL="0" indent="0">
              <a:lnSpc>
                <a:spcPct val="150000"/>
              </a:lnSpc>
              <a:spcBef>
                <a:spcPts val="0"/>
              </a:spcBef>
              <a:buClrTx/>
              <a:buSzPct val="100000"/>
              <a:buFontTx/>
              <a:buAutoNum type="arabicPeriod" startAt="6"/>
              <a:defRPr sz="1800">
                <a:latin typeface="Cambria"/>
                <a:ea typeface="Cambria"/>
                <a:cs typeface="Cambria"/>
                <a:sym typeface="Cambria"/>
              </a:defRPr>
            </a:pPr>
            <a:r>
              <a:t>Generate </a:t>
            </a:r>
            <a:r>
              <a:rPr b="1"/>
              <a:t>personalized savings suggestions</a:t>
            </a:r>
            <a:r>
              <a:t>.</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Title 1"/>
          <p:cNvSpPr txBox="1">
            <a:spLocks noGrp="1"/>
          </p:cNvSpPr>
          <p:nvPr>
            <p:ph type="title"/>
          </p:nvPr>
        </p:nvSpPr>
        <p:spPr>
          <a:xfrm>
            <a:off x="812800" y="145242"/>
            <a:ext cx="10668000" cy="990708"/>
          </a:xfrm>
          <a:prstGeom prst="rect">
            <a:avLst/>
          </a:prstGeom>
        </p:spPr>
        <p:txBody>
          <a:bodyPr/>
          <a:lstStyle>
            <a:lvl1pPr>
              <a:defRPr>
                <a:latin typeface="Cambria"/>
                <a:ea typeface="Cambria"/>
                <a:cs typeface="Cambria"/>
                <a:sym typeface="Cambria"/>
              </a:defRPr>
            </a:lvl1pPr>
          </a:lstStyle>
          <a:p>
            <a:r>
              <a:t>Proposed Methods and Feasibility Study(Continuation)…</a:t>
            </a:r>
            <a:endParaRPr b="0">
              <a:solidFill>
                <a:srgbClr val="000000"/>
              </a:solidFill>
            </a:endParaRPr>
          </a:p>
        </p:txBody>
      </p:sp>
      <p:sp>
        <p:nvSpPr>
          <p:cNvPr id="173" name="Text Placeholder 2"/>
          <p:cNvSpPr txBox="1">
            <a:spLocks noGrp="1"/>
          </p:cNvSpPr>
          <p:nvPr>
            <p:ph type="body" idx="1"/>
          </p:nvPr>
        </p:nvSpPr>
        <p:spPr>
          <a:prstGeom prst="rect">
            <a:avLst/>
          </a:prstGeom>
        </p:spPr>
        <p:txBody>
          <a:bodyPr/>
          <a:lstStyle/>
          <a:p>
            <a:pPr marL="0" indent="0">
              <a:lnSpc>
                <a:spcPct val="150000"/>
              </a:lnSpc>
              <a:spcBef>
                <a:spcPts val="0"/>
              </a:spcBef>
              <a:buSzTx/>
              <a:buNone/>
              <a:defRPr sz="1800" b="1">
                <a:latin typeface="Cambria"/>
                <a:ea typeface="Cambria"/>
                <a:cs typeface="Cambria"/>
                <a:sym typeface="Cambria"/>
              </a:defRPr>
            </a:pPr>
            <a:r>
              <a:t>Feasibility Study:</a:t>
            </a:r>
          </a:p>
          <a:p>
            <a:pPr marL="0" indent="0">
              <a:lnSpc>
                <a:spcPct val="150000"/>
              </a:lnSpc>
              <a:spcBef>
                <a:spcPts val="0"/>
              </a:spcBef>
              <a:buClrTx/>
              <a:buSzPct val="100000"/>
              <a:buFontTx/>
              <a:defRPr sz="1800" b="1">
                <a:latin typeface="Cambria"/>
                <a:ea typeface="Cambria"/>
                <a:cs typeface="Cambria"/>
                <a:sym typeface="Cambria"/>
              </a:defRPr>
            </a:pPr>
            <a:r>
              <a:t>Technical Feasibility:</a:t>
            </a:r>
          </a:p>
          <a:p>
            <a:pPr marL="457200" lvl="1" indent="0">
              <a:lnSpc>
                <a:spcPct val="150000"/>
              </a:lnSpc>
              <a:spcBef>
                <a:spcPts val="0"/>
              </a:spcBef>
              <a:buClrTx/>
              <a:buSzPct val="100000"/>
              <a:buFontTx/>
              <a:buChar char="•"/>
              <a:defRPr sz="1800">
                <a:latin typeface="Cambria"/>
                <a:ea typeface="Cambria"/>
                <a:cs typeface="Cambria"/>
                <a:sym typeface="Cambria"/>
              </a:defRPr>
            </a:pPr>
            <a:r>
              <a:t>Uses widely adopted open-source tools (Python, Flask/Django, React.js, spaCy, Pandas, Plotly).</a:t>
            </a:r>
            <a:endParaRPr sz="2000"/>
          </a:p>
          <a:p>
            <a:pPr marL="0" indent="0">
              <a:lnSpc>
                <a:spcPct val="150000"/>
              </a:lnSpc>
              <a:spcBef>
                <a:spcPts val="0"/>
              </a:spcBef>
              <a:buClrTx/>
              <a:buSzPct val="100000"/>
              <a:buFontTx/>
              <a:defRPr sz="1800" b="1">
                <a:latin typeface="Cambria"/>
                <a:ea typeface="Cambria"/>
                <a:cs typeface="Cambria"/>
                <a:sym typeface="Cambria"/>
              </a:defRPr>
            </a:pPr>
            <a:r>
              <a:t>Economic Feasibility:</a:t>
            </a:r>
          </a:p>
          <a:p>
            <a:pPr marL="457200" lvl="1" indent="0">
              <a:lnSpc>
                <a:spcPct val="150000"/>
              </a:lnSpc>
              <a:spcBef>
                <a:spcPts val="0"/>
              </a:spcBef>
              <a:buClrTx/>
              <a:buSzPct val="100000"/>
              <a:buFontTx/>
              <a:buChar char="•"/>
              <a:defRPr sz="1800">
                <a:latin typeface="Cambria"/>
                <a:ea typeface="Cambria"/>
                <a:cs typeface="Cambria"/>
                <a:sym typeface="Cambria"/>
              </a:defRPr>
            </a:pPr>
            <a:r>
              <a:t>Low-cost due to open-source stack and free APIs for simulation/testing.</a:t>
            </a:r>
            <a:endParaRPr sz="2000"/>
          </a:p>
          <a:p>
            <a:pPr marL="0" indent="0">
              <a:lnSpc>
                <a:spcPct val="150000"/>
              </a:lnSpc>
              <a:spcBef>
                <a:spcPts val="0"/>
              </a:spcBef>
              <a:buClrTx/>
              <a:buSzPct val="100000"/>
              <a:buFontTx/>
              <a:defRPr sz="1800" b="1">
                <a:latin typeface="Cambria"/>
                <a:ea typeface="Cambria"/>
                <a:cs typeface="Cambria"/>
                <a:sym typeface="Cambria"/>
              </a:defRPr>
            </a:pPr>
            <a:r>
              <a:t>Operational Feasibility:</a:t>
            </a:r>
          </a:p>
          <a:p>
            <a:pPr marL="457200" lvl="1" indent="0">
              <a:lnSpc>
                <a:spcPct val="150000"/>
              </a:lnSpc>
              <a:spcBef>
                <a:spcPts val="0"/>
              </a:spcBef>
              <a:buClrTx/>
              <a:buSzPct val="100000"/>
              <a:buFontTx/>
              <a:buChar char="•"/>
              <a:defRPr sz="1800">
                <a:latin typeface="Cambria"/>
                <a:ea typeface="Cambria"/>
                <a:cs typeface="Cambria"/>
                <a:sym typeface="Cambria"/>
              </a:defRPr>
            </a:pPr>
            <a:r>
              <a:t>Simple, intuitive interface.</a:t>
            </a:r>
            <a:endParaRPr sz="2000"/>
          </a:p>
          <a:p>
            <a:pPr marL="457200" lvl="1" indent="0">
              <a:lnSpc>
                <a:spcPct val="150000"/>
              </a:lnSpc>
              <a:spcBef>
                <a:spcPts val="0"/>
              </a:spcBef>
              <a:buClrTx/>
              <a:buSzPct val="100000"/>
              <a:buFontTx/>
              <a:buChar char="•"/>
              <a:defRPr sz="1800">
                <a:latin typeface="Cambria"/>
                <a:ea typeface="Cambria"/>
                <a:cs typeface="Cambria"/>
                <a:sym typeface="Cambria"/>
              </a:defRPr>
            </a:pPr>
            <a:r>
              <a:t>Non-technical users can easily interpret dashboards.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 name="Title 1"/>
          <p:cNvSpPr txBox="1">
            <a:spLocks noGrp="1"/>
          </p:cNvSpPr>
          <p:nvPr>
            <p:ph type="title"/>
          </p:nvPr>
        </p:nvSpPr>
        <p:spPr>
          <a:xfrm>
            <a:off x="812800" y="229815"/>
            <a:ext cx="10668000" cy="801266"/>
          </a:xfrm>
          <a:prstGeom prst="rect">
            <a:avLst/>
          </a:prstGeom>
        </p:spPr>
        <p:txBody>
          <a:bodyPr/>
          <a:lstStyle>
            <a:lvl1pPr>
              <a:defRPr>
                <a:latin typeface="Cambria"/>
                <a:ea typeface="Cambria"/>
                <a:cs typeface="Cambria"/>
                <a:sym typeface="Cambria"/>
              </a:defRPr>
            </a:lvl1pPr>
          </a:lstStyle>
          <a:p>
            <a:r>
              <a:t>Architecture Diagram</a:t>
            </a:r>
            <a:endParaRPr b="0">
              <a:solidFill>
                <a:srgbClr val="000000"/>
              </a:solidFill>
              <a:latin typeface="Verdana"/>
              <a:ea typeface="Verdana"/>
              <a:cs typeface="Verdana"/>
              <a:sym typeface="Verdana"/>
            </a:endParaRPr>
          </a:p>
        </p:txBody>
      </p:sp>
      <p:pic>
        <p:nvPicPr>
          <p:cNvPr id="176" name="Picture 2" descr="Picture 2"/>
          <p:cNvPicPr>
            <a:picLocks noChangeAspect="1"/>
          </p:cNvPicPr>
          <p:nvPr/>
        </p:nvPicPr>
        <p:blipFill>
          <a:blip r:embed="rId2"/>
          <a:stretch>
            <a:fillRect/>
          </a:stretch>
        </p:blipFill>
        <p:spPr>
          <a:xfrm>
            <a:off x="1731817" y="1031079"/>
            <a:ext cx="8728366" cy="4920686"/>
          </a:xfrm>
          <a:prstGeom prst="rect">
            <a:avLst/>
          </a:prstGeom>
          <a:ln w="12700">
            <a:miter lim="400000"/>
          </a:ln>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itle 1"/>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​Modules</a:t>
            </a:r>
          </a:p>
        </p:txBody>
      </p:sp>
      <p:sp>
        <p:nvSpPr>
          <p:cNvPr id="179" name="Rectangle 1"/>
          <p:cNvSpPr txBox="1">
            <a:spLocks noGrp="1"/>
          </p:cNvSpPr>
          <p:nvPr>
            <p:ph type="body" idx="1"/>
          </p:nvPr>
        </p:nvSpPr>
        <p:spPr>
          <a:xfrm>
            <a:off x="812799" y="1048566"/>
            <a:ext cx="6444395" cy="5909312"/>
          </a:xfrm>
          <a:prstGeom prst="rect">
            <a:avLst/>
          </a:prstGeom>
        </p:spPr>
        <p:txBody>
          <a:bodyPr lIns="45719" tIns="45719" rIns="45719" bIns="45719" anchor="ctr"/>
          <a:lstStyle/>
          <a:p>
            <a:pPr marL="0" indent="0">
              <a:lnSpc>
                <a:spcPct val="150000"/>
              </a:lnSpc>
              <a:spcBef>
                <a:spcPts val="0"/>
              </a:spcBef>
              <a:buSzTx/>
              <a:buNone/>
              <a:defRPr sz="1800" b="1">
                <a:latin typeface="Cambria"/>
                <a:ea typeface="Cambria"/>
                <a:cs typeface="Cambria"/>
                <a:sym typeface="Cambria"/>
              </a:defRPr>
            </a:pPr>
            <a:r>
              <a:t>User Interface Module</a:t>
            </a:r>
          </a:p>
          <a:p>
            <a:pPr marL="0" indent="0">
              <a:lnSpc>
                <a:spcPct val="150000"/>
              </a:lnSpc>
              <a:spcBef>
                <a:spcPts val="0"/>
              </a:spcBef>
              <a:buClrTx/>
              <a:buSzPct val="100000"/>
              <a:buFontTx/>
              <a:defRPr sz="1800">
                <a:latin typeface="Cambria"/>
                <a:ea typeface="Cambria"/>
                <a:cs typeface="Cambria"/>
                <a:sym typeface="Cambria"/>
              </a:defRPr>
            </a:pPr>
            <a:r>
              <a:t>Built with  HTML, CSS, JavaScript.</a:t>
            </a:r>
          </a:p>
          <a:p>
            <a:pPr marL="0" indent="0">
              <a:lnSpc>
                <a:spcPct val="150000"/>
              </a:lnSpc>
              <a:spcBef>
                <a:spcPts val="0"/>
              </a:spcBef>
              <a:buClrTx/>
              <a:buSzPct val="100000"/>
              <a:buFontTx/>
              <a:defRPr sz="1800">
                <a:latin typeface="Cambria"/>
                <a:ea typeface="Cambria"/>
                <a:cs typeface="Cambria"/>
                <a:sym typeface="Cambria"/>
              </a:defRPr>
            </a:pPr>
            <a:r>
              <a:t>Provides login, dashboard, visual reports, and savings insights.</a:t>
            </a:r>
          </a:p>
          <a:p>
            <a:pPr marL="0" indent="0">
              <a:lnSpc>
                <a:spcPct val="150000"/>
              </a:lnSpc>
              <a:spcBef>
                <a:spcPts val="0"/>
              </a:spcBef>
              <a:buSzTx/>
              <a:buNone/>
              <a:defRPr sz="1800" b="1">
                <a:latin typeface="Cambria"/>
                <a:ea typeface="Cambria"/>
                <a:cs typeface="Cambria"/>
                <a:sym typeface="Cambria"/>
              </a:defRPr>
            </a:pPr>
            <a:r>
              <a:t>Data Ingestion Module</a:t>
            </a:r>
          </a:p>
          <a:p>
            <a:pPr marL="0" indent="0">
              <a:lnSpc>
                <a:spcPct val="150000"/>
              </a:lnSpc>
              <a:spcBef>
                <a:spcPts val="0"/>
              </a:spcBef>
              <a:buClrTx/>
              <a:buSzPct val="100000"/>
              <a:buFontTx/>
              <a:defRPr sz="1800">
                <a:latin typeface="Cambria"/>
                <a:ea typeface="Cambria"/>
                <a:cs typeface="Cambria"/>
                <a:sym typeface="Cambria"/>
              </a:defRPr>
            </a:pPr>
            <a:r>
              <a:t>Collects financial data from:</a:t>
            </a:r>
          </a:p>
          <a:p>
            <a:pPr marL="457200" lvl="1" indent="0">
              <a:lnSpc>
                <a:spcPct val="150000"/>
              </a:lnSpc>
              <a:spcBef>
                <a:spcPts val="0"/>
              </a:spcBef>
              <a:buClrTx/>
              <a:buSzPct val="100000"/>
              <a:buFontTx/>
              <a:buChar char="•"/>
              <a:defRPr sz="1800">
                <a:latin typeface="Cambria"/>
                <a:ea typeface="Cambria"/>
                <a:cs typeface="Cambria"/>
                <a:sym typeface="Cambria"/>
              </a:defRPr>
            </a:pPr>
            <a:r>
              <a:t>Bank SMS (via Twilio API or simulation).</a:t>
            </a:r>
            <a:endParaRPr sz="2000"/>
          </a:p>
          <a:p>
            <a:pPr marL="457200" lvl="1" indent="0">
              <a:lnSpc>
                <a:spcPct val="150000"/>
              </a:lnSpc>
              <a:spcBef>
                <a:spcPts val="0"/>
              </a:spcBef>
              <a:buClrTx/>
              <a:buSzPct val="100000"/>
              <a:buFontTx/>
              <a:buChar char="•"/>
              <a:defRPr sz="1800">
                <a:latin typeface="Cambria"/>
                <a:ea typeface="Cambria"/>
                <a:cs typeface="Cambria"/>
                <a:sym typeface="Cambria"/>
              </a:defRPr>
            </a:pPr>
            <a:r>
              <a:t>Emails (via IMAP API).</a:t>
            </a:r>
            <a:endParaRPr sz="2000"/>
          </a:p>
          <a:p>
            <a:pPr marL="457200" lvl="1" indent="0">
              <a:lnSpc>
                <a:spcPct val="150000"/>
              </a:lnSpc>
              <a:spcBef>
                <a:spcPts val="0"/>
              </a:spcBef>
              <a:buClrTx/>
              <a:buSzPct val="100000"/>
              <a:buFontTx/>
              <a:buChar char="•"/>
              <a:defRPr sz="1800">
                <a:latin typeface="Cambria"/>
                <a:ea typeface="Cambria"/>
                <a:cs typeface="Cambria"/>
                <a:sym typeface="Cambria"/>
              </a:defRPr>
            </a:pPr>
            <a:r>
              <a:t>File uploads (optional).</a:t>
            </a:r>
            <a:endParaRPr sz="2000"/>
          </a:p>
          <a:p>
            <a:pPr marL="0" indent="0">
              <a:lnSpc>
                <a:spcPct val="150000"/>
              </a:lnSpc>
              <a:spcBef>
                <a:spcPts val="0"/>
              </a:spcBef>
              <a:buClrTx/>
              <a:buSzPct val="100000"/>
              <a:buFontTx/>
              <a:defRPr sz="1800">
                <a:latin typeface="Cambria"/>
                <a:ea typeface="Cambria"/>
                <a:cs typeface="Cambria"/>
                <a:sym typeface="Cambria"/>
              </a:defRPr>
            </a:pPr>
            <a:r>
              <a:t>Passes raw transaction data to the NLP Engine.</a:t>
            </a:r>
          </a:p>
          <a:p>
            <a:pPr marL="0" indent="0">
              <a:lnSpc>
                <a:spcPct val="150000"/>
              </a:lnSpc>
              <a:spcBef>
                <a:spcPts val="0"/>
              </a:spcBef>
              <a:buSzTx/>
              <a:buNone/>
              <a:defRPr sz="1800" b="1">
                <a:latin typeface="Cambria"/>
                <a:ea typeface="Cambria"/>
                <a:cs typeface="Cambria"/>
                <a:sym typeface="Cambria"/>
              </a:defRPr>
            </a:pPr>
            <a:r>
              <a:t>NLP &amp; Processing Module</a:t>
            </a:r>
          </a:p>
          <a:p>
            <a:pPr marL="0" indent="0">
              <a:lnSpc>
                <a:spcPct val="150000"/>
              </a:lnSpc>
              <a:spcBef>
                <a:spcPts val="0"/>
              </a:spcBef>
              <a:buClrTx/>
              <a:buSzPct val="100000"/>
              <a:buFontTx/>
              <a:defRPr sz="1800">
                <a:latin typeface="Cambria"/>
                <a:ea typeface="Cambria"/>
                <a:cs typeface="Cambria"/>
                <a:sym typeface="Cambria"/>
              </a:defRPr>
            </a:pPr>
            <a:r>
              <a:t>Uses Python, spaCy, Regex, and Pandas.</a:t>
            </a:r>
          </a:p>
          <a:p>
            <a:pPr marL="0" indent="0">
              <a:lnSpc>
                <a:spcPct val="150000"/>
              </a:lnSpc>
              <a:spcBef>
                <a:spcPts val="0"/>
              </a:spcBef>
              <a:buClrTx/>
              <a:buSzPct val="100000"/>
              <a:buFontTx/>
              <a:defRPr sz="1800">
                <a:latin typeface="Cambria"/>
                <a:ea typeface="Cambria"/>
                <a:cs typeface="Cambria"/>
                <a:sym typeface="Cambria"/>
              </a:defRPr>
            </a:pPr>
            <a:r>
              <a:t>Extracts key details (amount, vendor, date, transaction type).</a:t>
            </a:r>
          </a:p>
          <a:p>
            <a:pPr marL="0" indent="0">
              <a:lnSpc>
                <a:spcPct val="150000"/>
              </a:lnSpc>
              <a:spcBef>
                <a:spcPts val="0"/>
              </a:spcBef>
              <a:buClrTx/>
              <a:buSzPct val="100000"/>
              <a:buFontTx/>
              <a:defRPr sz="1800">
                <a:latin typeface="Cambria"/>
                <a:ea typeface="Cambria"/>
                <a:cs typeface="Cambria"/>
                <a:sym typeface="Cambria"/>
              </a:defRPr>
            </a:pPr>
            <a:r>
              <a:t>Categorizes expenses (groceries, utilities, entertainment, etc.).</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Title 1"/>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​Modules</a:t>
            </a:r>
          </a:p>
        </p:txBody>
      </p:sp>
      <p:sp>
        <p:nvSpPr>
          <p:cNvPr id="182" name="Text Placeholder 2"/>
          <p:cNvSpPr txBox="1">
            <a:spLocks noGrp="1"/>
          </p:cNvSpPr>
          <p:nvPr>
            <p:ph type="body" idx="1"/>
          </p:nvPr>
        </p:nvSpPr>
        <p:spPr>
          <a:xfrm>
            <a:off x="812800" y="873579"/>
            <a:ext cx="10668000" cy="4953001"/>
          </a:xfrm>
          <a:prstGeom prst="rect">
            <a:avLst/>
          </a:prstGeom>
        </p:spPr>
        <p:txBody>
          <a:bodyPr/>
          <a:lstStyle/>
          <a:p>
            <a:pPr marL="0" indent="0">
              <a:lnSpc>
                <a:spcPct val="150000"/>
              </a:lnSpc>
              <a:spcBef>
                <a:spcPts val="0"/>
              </a:spcBef>
              <a:buSzTx/>
              <a:buNone/>
              <a:defRPr sz="1800" b="1">
                <a:latin typeface="Cambria"/>
                <a:ea typeface="Cambria"/>
                <a:cs typeface="Cambria"/>
                <a:sym typeface="Cambria"/>
              </a:defRPr>
            </a:pPr>
            <a:r>
              <a:t>Backend Module</a:t>
            </a:r>
          </a:p>
          <a:p>
            <a:pPr marL="0" indent="0">
              <a:lnSpc>
                <a:spcPct val="150000"/>
              </a:lnSpc>
              <a:spcBef>
                <a:spcPts val="0"/>
              </a:spcBef>
              <a:buClrTx/>
              <a:buSzPct val="100000"/>
              <a:buFontTx/>
              <a:defRPr sz="1800">
                <a:latin typeface="Cambria"/>
                <a:ea typeface="Cambria"/>
                <a:cs typeface="Cambria"/>
                <a:sym typeface="Cambria"/>
              </a:defRPr>
            </a:pPr>
            <a:r>
              <a:t>Powered by Python (Flask).</a:t>
            </a:r>
          </a:p>
          <a:p>
            <a:pPr marL="0" indent="0">
              <a:lnSpc>
                <a:spcPct val="150000"/>
              </a:lnSpc>
              <a:spcBef>
                <a:spcPts val="0"/>
              </a:spcBef>
              <a:buClrTx/>
              <a:buSzPct val="100000"/>
              <a:buFontTx/>
              <a:defRPr sz="1800">
                <a:latin typeface="Cambria"/>
                <a:ea typeface="Cambria"/>
                <a:cs typeface="Cambria"/>
                <a:sym typeface="Cambria"/>
              </a:defRPr>
            </a:pPr>
            <a:r>
              <a:t>Manages authentication, API requests, business logic.</a:t>
            </a:r>
          </a:p>
          <a:p>
            <a:pPr marL="0" indent="0">
              <a:lnSpc>
                <a:spcPct val="150000"/>
              </a:lnSpc>
              <a:spcBef>
                <a:spcPts val="0"/>
              </a:spcBef>
              <a:buClrTx/>
              <a:buSzPct val="100000"/>
              <a:buFontTx/>
              <a:defRPr sz="1800">
                <a:latin typeface="Cambria"/>
                <a:ea typeface="Cambria"/>
                <a:cs typeface="Cambria"/>
                <a:sym typeface="Cambria"/>
              </a:defRPr>
            </a:pPr>
            <a:r>
              <a:t>Connects NLP, Database, and Visualization modules.</a:t>
            </a:r>
          </a:p>
          <a:p>
            <a:pPr marL="0" indent="0">
              <a:lnSpc>
                <a:spcPct val="150000"/>
              </a:lnSpc>
              <a:spcBef>
                <a:spcPts val="0"/>
              </a:spcBef>
              <a:buSzTx/>
              <a:buNone/>
              <a:defRPr sz="1800" b="1">
                <a:latin typeface="Cambria"/>
                <a:ea typeface="Cambria"/>
                <a:cs typeface="Cambria"/>
                <a:sym typeface="Cambria"/>
              </a:defRPr>
            </a:pPr>
            <a:r>
              <a:t>Database Module</a:t>
            </a:r>
          </a:p>
          <a:p>
            <a:pPr marL="0" indent="0">
              <a:lnSpc>
                <a:spcPct val="150000"/>
              </a:lnSpc>
              <a:spcBef>
                <a:spcPts val="0"/>
              </a:spcBef>
              <a:buClrTx/>
              <a:buSzPct val="100000"/>
              <a:buFontTx/>
              <a:defRPr sz="1800">
                <a:latin typeface="Cambria"/>
                <a:ea typeface="Cambria"/>
                <a:cs typeface="Cambria"/>
                <a:sym typeface="Cambria"/>
              </a:defRPr>
            </a:pPr>
            <a:r>
              <a:t>SQLite/MySQL.</a:t>
            </a:r>
          </a:p>
          <a:p>
            <a:pPr marL="0" indent="0">
              <a:lnSpc>
                <a:spcPct val="150000"/>
              </a:lnSpc>
              <a:spcBef>
                <a:spcPts val="0"/>
              </a:spcBef>
              <a:buClrTx/>
              <a:buSzPct val="100000"/>
              <a:buFontTx/>
              <a:defRPr sz="1800">
                <a:latin typeface="Cambria"/>
                <a:ea typeface="Cambria"/>
                <a:cs typeface="Cambria"/>
                <a:sym typeface="Cambria"/>
              </a:defRPr>
            </a:pPr>
            <a:r>
              <a:t>Stores:</a:t>
            </a:r>
          </a:p>
          <a:p>
            <a:pPr marL="457200" lvl="1" indent="0">
              <a:lnSpc>
                <a:spcPct val="150000"/>
              </a:lnSpc>
              <a:spcBef>
                <a:spcPts val="0"/>
              </a:spcBef>
              <a:buClrTx/>
              <a:buSzPct val="100000"/>
              <a:buFontTx/>
              <a:buChar char="•"/>
              <a:defRPr sz="1800">
                <a:latin typeface="Cambria"/>
                <a:ea typeface="Cambria"/>
                <a:cs typeface="Cambria"/>
                <a:sym typeface="Cambria"/>
              </a:defRPr>
            </a:pPr>
            <a:r>
              <a:t>User profiles &amp; authentication.</a:t>
            </a:r>
            <a:endParaRPr sz="2000"/>
          </a:p>
          <a:p>
            <a:pPr marL="457200" lvl="1" indent="0">
              <a:lnSpc>
                <a:spcPct val="150000"/>
              </a:lnSpc>
              <a:spcBef>
                <a:spcPts val="0"/>
              </a:spcBef>
              <a:buClrTx/>
              <a:buSzPct val="100000"/>
              <a:buFontTx/>
              <a:buChar char="•"/>
              <a:defRPr sz="1800">
                <a:latin typeface="Cambria"/>
                <a:ea typeface="Cambria"/>
                <a:cs typeface="Cambria"/>
                <a:sym typeface="Cambria"/>
              </a:defRPr>
            </a:pPr>
            <a:r>
              <a:t>Encrypted financial data.</a:t>
            </a:r>
            <a:endParaRPr sz="2000"/>
          </a:p>
          <a:p>
            <a:pPr marL="457200" lvl="1" indent="0">
              <a:lnSpc>
                <a:spcPct val="150000"/>
              </a:lnSpc>
              <a:spcBef>
                <a:spcPts val="0"/>
              </a:spcBef>
              <a:buClrTx/>
              <a:buSzPct val="100000"/>
              <a:buFontTx/>
              <a:buChar char="•"/>
              <a:defRPr sz="1800">
                <a:latin typeface="Cambria"/>
                <a:ea typeface="Cambria"/>
                <a:cs typeface="Cambria"/>
                <a:sym typeface="Cambria"/>
              </a:defRPr>
            </a:pPr>
            <a:r>
              <a:t>Categorized transactions &amp; recommendations.</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itle 1"/>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​Modules</a:t>
            </a:r>
          </a:p>
        </p:txBody>
      </p:sp>
      <p:sp>
        <p:nvSpPr>
          <p:cNvPr id="185" name="Text Placeholder 3"/>
          <p:cNvSpPr txBox="1">
            <a:spLocks noGrp="1"/>
          </p:cNvSpPr>
          <p:nvPr>
            <p:ph type="body" idx="1"/>
          </p:nvPr>
        </p:nvSpPr>
        <p:spPr>
          <a:prstGeom prst="rect">
            <a:avLst/>
          </a:prstGeom>
        </p:spPr>
        <p:txBody>
          <a:bodyPr/>
          <a:lstStyle/>
          <a:p>
            <a:pPr marL="0" indent="0">
              <a:lnSpc>
                <a:spcPct val="150000"/>
              </a:lnSpc>
              <a:spcBef>
                <a:spcPts val="0"/>
              </a:spcBef>
              <a:buSzTx/>
              <a:buNone/>
              <a:defRPr sz="1800" b="1">
                <a:latin typeface="Cambria"/>
                <a:ea typeface="Cambria"/>
                <a:cs typeface="Cambria"/>
                <a:sym typeface="Cambria"/>
              </a:defRPr>
            </a:pPr>
            <a:r>
              <a:t>Visualization &amp; Analytics Module</a:t>
            </a:r>
          </a:p>
          <a:p>
            <a:pPr marL="0" indent="0">
              <a:lnSpc>
                <a:spcPct val="150000"/>
              </a:lnSpc>
              <a:spcBef>
                <a:spcPts val="0"/>
              </a:spcBef>
              <a:buClrTx/>
              <a:buSzPct val="100000"/>
              <a:buFontTx/>
              <a:defRPr sz="1800">
                <a:latin typeface="Cambria"/>
                <a:ea typeface="Cambria"/>
                <a:cs typeface="Cambria"/>
                <a:sym typeface="Cambria"/>
              </a:defRPr>
            </a:pPr>
            <a:r>
              <a:t>Built with Plotly.</a:t>
            </a:r>
          </a:p>
          <a:p>
            <a:pPr marL="0" indent="0">
              <a:lnSpc>
                <a:spcPct val="150000"/>
              </a:lnSpc>
              <a:spcBef>
                <a:spcPts val="0"/>
              </a:spcBef>
              <a:buClrTx/>
              <a:buSzPct val="100000"/>
              <a:buFontTx/>
              <a:defRPr sz="1800">
                <a:latin typeface="Cambria"/>
                <a:ea typeface="Cambria"/>
                <a:cs typeface="Cambria"/>
                <a:sym typeface="Cambria"/>
              </a:defRPr>
            </a:pPr>
            <a:r>
              <a:t>Generates interactive graphs for spending trends, category breakdowns, and monthly comparisons.</a:t>
            </a:r>
          </a:p>
          <a:p>
            <a:pPr marL="0" indent="0">
              <a:lnSpc>
                <a:spcPct val="150000"/>
              </a:lnSpc>
              <a:spcBef>
                <a:spcPts val="0"/>
              </a:spcBef>
              <a:buClrTx/>
              <a:buSzPct val="100000"/>
              <a:buFontTx/>
              <a:defRPr sz="1800">
                <a:latin typeface="Cambria"/>
                <a:ea typeface="Cambria"/>
                <a:cs typeface="Cambria"/>
                <a:sym typeface="Cambria"/>
              </a:defRPr>
            </a:pPr>
            <a:r>
              <a:t>Provides personalized savings recommendations.</a:t>
            </a:r>
          </a:p>
          <a:p>
            <a:pPr marL="0" indent="0">
              <a:lnSpc>
                <a:spcPct val="150000"/>
              </a:lnSpc>
              <a:spcBef>
                <a:spcPts val="0"/>
              </a:spcBef>
              <a:buClrTx/>
              <a:buSzPct val="100000"/>
              <a:buFontTx/>
              <a:defRPr sz="1800" b="1">
                <a:latin typeface="Cambria"/>
                <a:ea typeface="Cambria"/>
                <a:cs typeface="Cambria"/>
                <a:sym typeface="Cambria"/>
              </a:defRPr>
            </a:pPr>
            <a:r>
              <a:t>Security Module</a:t>
            </a:r>
          </a:p>
          <a:p>
            <a:pPr marL="0" indent="0">
              <a:lnSpc>
                <a:spcPct val="150000"/>
              </a:lnSpc>
              <a:spcBef>
                <a:spcPts val="0"/>
              </a:spcBef>
              <a:buClrTx/>
              <a:buSzPct val="100000"/>
              <a:buFontTx/>
              <a:defRPr sz="1800">
                <a:latin typeface="Cambria"/>
                <a:ea typeface="Cambria"/>
                <a:cs typeface="Cambria"/>
                <a:sym typeface="Cambria"/>
              </a:defRPr>
            </a:pPr>
            <a:r>
              <a:t>Authentication and authorization.</a:t>
            </a:r>
          </a:p>
          <a:p>
            <a:pPr marL="0" indent="0">
              <a:lnSpc>
                <a:spcPct val="150000"/>
              </a:lnSpc>
              <a:spcBef>
                <a:spcPts val="0"/>
              </a:spcBef>
              <a:buClrTx/>
              <a:buSzPct val="100000"/>
              <a:buFontTx/>
              <a:defRPr sz="1800">
                <a:latin typeface="Cambria"/>
                <a:ea typeface="Cambria"/>
                <a:cs typeface="Cambria"/>
                <a:sym typeface="Cambria"/>
              </a:defRPr>
            </a:pPr>
            <a:r>
              <a:t>Encryption for stored and transmitted financial data.</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Title 1"/>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Hardware and Software Details</a:t>
            </a:r>
          </a:p>
        </p:txBody>
      </p:sp>
      <p:sp>
        <p:nvSpPr>
          <p:cNvPr id="188" name="Text Placeholder 6"/>
          <p:cNvSpPr txBox="1">
            <a:spLocks noGrp="1"/>
          </p:cNvSpPr>
          <p:nvPr>
            <p:ph type="body" idx="1"/>
          </p:nvPr>
        </p:nvSpPr>
        <p:spPr>
          <a:prstGeom prst="rect">
            <a:avLst/>
          </a:prstGeom>
        </p:spPr>
        <p:txBody>
          <a:bodyPr/>
          <a:lstStyle/>
          <a:p>
            <a:pPr marL="0" indent="76200">
              <a:lnSpc>
                <a:spcPct val="120000"/>
              </a:lnSpc>
              <a:buSzTx/>
              <a:buNone/>
              <a:defRPr sz="1800" b="1">
                <a:latin typeface="Cambria"/>
                <a:ea typeface="Cambria"/>
                <a:cs typeface="Cambria"/>
                <a:sym typeface="Cambria"/>
              </a:defRPr>
            </a:pPr>
            <a:r>
              <a:t>Hardware</a:t>
            </a:r>
            <a:r>
              <a:rPr b="0"/>
              <a:t>:</a:t>
            </a:r>
          </a:p>
          <a:p>
            <a:pPr>
              <a:lnSpc>
                <a:spcPct val="120000"/>
              </a:lnSpc>
              <a:buSzPts val="1800"/>
              <a:defRPr sz="1800">
                <a:latin typeface="Cambria"/>
                <a:ea typeface="Cambria"/>
                <a:cs typeface="Cambria"/>
                <a:sym typeface="Cambria"/>
              </a:defRPr>
            </a:pPr>
            <a:r>
              <a:t>Processor: Intel Core i3 / AMD Ryzen 3 or higher</a:t>
            </a:r>
          </a:p>
          <a:p>
            <a:pPr>
              <a:lnSpc>
                <a:spcPct val="120000"/>
              </a:lnSpc>
              <a:buSzPts val="1800"/>
              <a:defRPr sz="1800">
                <a:latin typeface="Cambria"/>
                <a:ea typeface="Cambria"/>
                <a:cs typeface="Cambria"/>
                <a:sym typeface="Cambria"/>
              </a:defRPr>
            </a:pPr>
            <a:r>
              <a:t>RAM: 8 GB or more</a:t>
            </a:r>
          </a:p>
          <a:p>
            <a:pPr>
              <a:lnSpc>
                <a:spcPct val="120000"/>
              </a:lnSpc>
              <a:buSzPts val="1800"/>
              <a:defRPr sz="1800">
                <a:latin typeface="Cambria"/>
                <a:ea typeface="Cambria"/>
                <a:cs typeface="Cambria"/>
                <a:sym typeface="Cambria"/>
              </a:defRPr>
            </a:pPr>
            <a:r>
              <a:t>Storage: 40 GB of free disk space</a:t>
            </a:r>
          </a:p>
          <a:p>
            <a:pPr marL="0" indent="76200">
              <a:lnSpc>
                <a:spcPct val="120000"/>
              </a:lnSpc>
              <a:buSzTx/>
              <a:buNone/>
              <a:defRPr sz="1800">
                <a:latin typeface="Cambria"/>
                <a:ea typeface="Cambria"/>
                <a:cs typeface="Cambria"/>
                <a:sym typeface="Cambria"/>
              </a:defRPr>
            </a:pPr>
            <a:endParaRPr/>
          </a:p>
          <a:p>
            <a:pPr marL="0" indent="76200">
              <a:lnSpc>
                <a:spcPct val="120000"/>
              </a:lnSpc>
              <a:buSzTx/>
              <a:buNone/>
              <a:defRPr sz="1800" b="1">
                <a:latin typeface="Cambria"/>
                <a:ea typeface="Cambria"/>
                <a:cs typeface="Cambria"/>
                <a:sym typeface="Cambria"/>
              </a:defRPr>
            </a:pPr>
            <a:r>
              <a:t>Software</a:t>
            </a:r>
            <a:r>
              <a:rPr b="0"/>
              <a:t>:</a:t>
            </a:r>
          </a:p>
          <a:p>
            <a:pPr>
              <a:lnSpc>
                <a:spcPct val="120000"/>
              </a:lnSpc>
              <a:buSzPts val="1800"/>
              <a:defRPr sz="1800">
                <a:latin typeface="Cambria"/>
                <a:ea typeface="Cambria"/>
                <a:cs typeface="Cambria"/>
                <a:sym typeface="Cambria"/>
              </a:defRPr>
            </a:pPr>
            <a:r>
              <a:t>Operating System: Windows 10/11, macOS, or any Linux distribution</a:t>
            </a:r>
          </a:p>
          <a:p>
            <a:pPr>
              <a:lnSpc>
                <a:spcPct val="120000"/>
              </a:lnSpc>
              <a:buSzPts val="1800"/>
              <a:defRPr sz="1800">
                <a:latin typeface="Cambria"/>
                <a:ea typeface="Cambria"/>
                <a:cs typeface="Cambria"/>
                <a:sym typeface="Cambria"/>
              </a:defRPr>
            </a:pPr>
            <a:r>
              <a:t>Backend Runtime: Python 3.8+Frontend Runtime: Node.js</a:t>
            </a:r>
          </a:p>
          <a:p>
            <a:pPr>
              <a:lnSpc>
                <a:spcPct val="120000"/>
              </a:lnSpc>
              <a:buSzPts val="1800"/>
              <a:defRPr sz="1800">
                <a:latin typeface="Cambria"/>
                <a:ea typeface="Cambria"/>
                <a:cs typeface="Cambria"/>
                <a:sym typeface="Cambria"/>
              </a:defRPr>
            </a:pPr>
            <a:r>
              <a:t>Database Server: PostgreSQL or MySQL</a:t>
            </a:r>
          </a:p>
          <a:p>
            <a:pPr>
              <a:lnSpc>
                <a:spcPct val="120000"/>
              </a:lnSpc>
              <a:buSzPts val="1800"/>
              <a:defRPr sz="1800">
                <a:latin typeface="Cambria"/>
                <a:ea typeface="Cambria"/>
                <a:cs typeface="Cambria"/>
                <a:sym typeface="Cambria"/>
              </a:defRPr>
            </a:pPr>
            <a:r>
              <a:t>Version Control: Git</a:t>
            </a:r>
          </a:p>
          <a:p>
            <a:pPr>
              <a:lnSpc>
                <a:spcPct val="120000"/>
              </a:lnSpc>
              <a:buSzPts val="1800"/>
              <a:defRPr sz="1800">
                <a:latin typeface="Cambria"/>
                <a:ea typeface="Cambria"/>
                <a:cs typeface="Cambria"/>
                <a:sym typeface="Cambria"/>
              </a:defRPr>
            </a:pPr>
            <a:r>
              <a:t>IDE: VS Code or PyCharm</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Google Shape;114;p17"/>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Timeline of the Project (Gantt Chart)</a:t>
            </a:r>
          </a:p>
        </p:txBody>
      </p:sp>
      <p:pic>
        <p:nvPicPr>
          <p:cNvPr id="191" name="Picture 4" descr="Picture 4"/>
          <p:cNvPicPr>
            <a:picLocks noChangeAspect="1"/>
          </p:cNvPicPr>
          <p:nvPr/>
        </p:nvPicPr>
        <p:blipFill>
          <a:blip r:embed="rId2"/>
          <a:stretch>
            <a:fillRect/>
          </a:stretch>
        </p:blipFill>
        <p:spPr>
          <a:xfrm>
            <a:off x="0" y="871537"/>
            <a:ext cx="12192000" cy="5114926"/>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Google Shape;144;p22"/>
          <p:cNvSpPr txBox="1">
            <a:spLocks noGrp="1"/>
          </p:cNvSpPr>
          <p:nvPr>
            <p:ph type="title"/>
          </p:nvPr>
        </p:nvSpPr>
        <p:spPr>
          <a:xfrm>
            <a:off x="812800" y="274638"/>
            <a:ext cx="10668000" cy="487501"/>
          </a:xfrm>
          <a:prstGeom prst="rect">
            <a:avLst/>
          </a:prstGeom>
        </p:spPr>
        <p:txBody>
          <a:bodyPr/>
          <a:lstStyle>
            <a:lvl1pPr defTabSz="868680">
              <a:defRPr sz="2660">
                <a:latin typeface="Cambria"/>
                <a:ea typeface="Cambria"/>
                <a:cs typeface="Cambria"/>
                <a:sym typeface="Cambria"/>
              </a:defRPr>
            </a:lvl1pPr>
          </a:lstStyle>
          <a:p>
            <a:r>
              <a:t>References (IEEE Paper format)</a:t>
            </a:r>
          </a:p>
        </p:txBody>
      </p:sp>
      <p:sp>
        <p:nvSpPr>
          <p:cNvPr id="194" name="Text Placeholder 2"/>
          <p:cNvSpPr txBox="1">
            <a:spLocks noGrp="1"/>
          </p:cNvSpPr>
          <p:nvPr>
            <p:ph type="body" idx="1"/>
          </p:nvPr>
        </p:nvSpPr>
        <p:spPr>
          <a:prstGeom prst="rect">
            <a:avLst/>
          </a:prstGeom>
        </p:spPr>
        <p:txBody>
          <a:bodyPr/>
          <a:lstStyle/>
          <a:p>
            <a:pPr marL="0" indent="76200">
              <a:lnSpc>
                <a:spcPct val="80000"/>
              </a:lnSpc>
              <a:buSzTx/>
              <a:buNone/>
              <a:defRPr sz="1800">
                <a:latin typeface="Cambria"/>
                <a:ea typeface="Cambria"/>
                <a:cs typeface="Cambria"/>
                <a:sym typeface="Cambria"/>
              </a:defRPr>
            </a:pPr>
            <a:r>
              <a:t>[1] S. Bird, E. Klein, and E. Loper, "Natural Language Processing with Python," O'Reilly Media, 2009. </a:t>
            </a:r>
            <a:endParaRPr sz="2600"/>
          </a:p>
          <a:p>
            <a:pPr marL="0" indent="76200">
              <a:lnSpc>
                <a:spcPct val="80000"/>
              </a:lnSpc>
              <a:buSzTx/>
              <a:buNone/>
              <a:defRPr sz="1800">
                <a:latin typeface="Cambria"/>
                <a:ea typeface="Cambria"/>
                <a:cs typeface="Cambria"/>
                <a:sym typeface="Cambria"/>
              </a:defRPr>
            </a:pPr>
            <a:r>
              <a:t>[2] Plotly Technologies Inc., "Dash User Guide," 2023. [Online]. Available: https://dash.plotly.com </a:t>
            </a:r>
            <a:endParaRPr sz="2600"/>
          </a:p>
          <a:p>
            <a:pPr marL="0" indent="76200">
              <a:lnSpc>
                <a:spcPct val="80000"/>
              </a:lnSpc>
              <a:buSzTx/>
              <a:buNone/>
              <a:defRPr sz="1800">
                <a:latin typeface="Cambria"/>
                <a:ea typeface="Cambria"/>
                <a:cs typeface="Cambria"/>
                <a:sym typeface="Cambria"/>
              </a:defRPr>
            </a:pPr>
            <a:r>
              <a:t>[3] spaCy, "Industrial-Strength NLP in Python," 2023. [Online]. Available: https://spacy.io </a:t>
            </a:r>
            <a:endParaRPr sz="2600"/>
          </a:p>
          <a:p>
            <a:pPr marL="0" indent="76200">
              <a:lnSpc>
                <a:spcPct val="80000"/>
              </a:lnSpc>
              <a:buSzTx/>
              <a:buNone/>
              <a:defRPr sz="1800">
                <a:latin typeface="Cambria"/>
                <a:ea typeface="Cambria"/>
                <a:cs typeface="Cambria"/>
                <a:sym typeface="Cambria"/>
              </a:defRPr>
            </a:pPr>
            <a:r>
              <a:t>[4] M. Abadi, A. Agarwal, P. Barham et al., "TensorFlow: Large-Scale Machine Learning on Heterogeneous Systems," 2015. [Online]. Available: </a:t>
            </a:r>
            <a:r>
              <a:rPr u="sng">
                <a:solidFill>
                  <a:srgbClr val="0000FF"/>
                </a:solidFill>
                <a:uFill>
                  <a:solidFill>
                    <a:srgbClr val="0000FF"/>
                  </a:solidFill>
                </a:uFill>
                <a:hlinkClick r:id="rId2"/>
              </a:rPr>
              <a:t>https://www.tensorflow.org</a:t>
            </a:r>
            <a:endParaRPr sz="2600"/>
          </a:p>
          <a:p>
            <a:pPr marL="0" indent="76200">
              <a:lnSpc>
                <a:spcPct val="80000"/>
              </a:lnSpc>
              <a:buSzTx/>
              <a:buNone/>
              <a:defRPr sz="1800">
                <a:latin typeface="Cambria"/>
                <a:ea typeface="Cambria"/>
                <a:cs typeface="Cambria"/>
                <a:sym typeface="Cambria"/>
              </a:defRPr>
            </a:pPr>
            <a:r>
              <a:t>[5] R. Agarwal and A. Dhar, "Financial Inclusion through Digitalization: A Review of Financial Technologies," Int. J. Innov. Sci., vol. 13, no. 2, pp. 168–180, 2021. </a:t>
            </a:r>
            <a:endParaRPr sz="2600"/>
          </a:p>
          <a:p>
            <a:pPr marL="0" indent="76200">
              <a:lnSpc>
                <a:spcPct val="80000"/>
              </a:lnSpc>
              <a:buSzTx/>
              <a:buNone/>
              <a:defRPr sz="1800">
                <a:latin typeface="Cambria"/>
                <a:ea typeface="Cambria"/>
                <a:cs typeface="Cambria"/>
                <a:sym typeface="Cambria"/>
              </a:defRPr>
            </a:pPr>
            <a:r>
              <a:t>[6] A. Jain, S. Kumar, and M. Singh, "AI-Driven Personal Finance Management Systems," Int. J. Comput. Appl.,vol. 183, no. 25, pp. 12–19, 2021. </a:t>
            </a:r>
            <a:endParaRPr sz="2600"/>
          </a:p>
          <a:p>
            <a:pPr marL="0" indent="76200">
              <a:lnSpc>
                <a:spcPct val="80000"/>
              </a:lnSpc>
              <a:buSzTx/>
              <a:buNone/>
              <a:defRPr sz="1800">
                <a:latin typeface="Cambria"/>
                <a:ea typeface="Cambria"/>
                <a:cs typeface="Cambria"/>
                <a:sym typeface="Cambria"/>
              </a:defRPr>
            </a:pPr>
            <a:r>
              <a:t>[7] H. Chen, R. Chiang, and V. Storey, "Business Intelligence and Analytics: From Big Data to Big Impact," MISQ., vol. 36, no. 4, pp. 1165–1188, 2012. </a:t>
            </a:r>
            <a:endParaRPr sz="2600"/>
          </a:p>
          <a:p>
            <a:pPr marL="0" indent="76200">
              <a:lnSpc>
                <a:spcPct val="80000"/>
              </a:lnSpc>
              <a:buSzTx/>
              <a:buNone/>
              <a:defRPr sz="1800">
                <a:latin typeface="Cambria"/>
                <a:ea typeface="Cambria"/>
                <a:cs typeface="Cambria"/>
                <a:sym typeface="Cambria"/>
              </a:defRPr>
            </a:pPr>
            <a:r>
              <a:t>[8] Y. LeCun, Y. Bengio, and G. Hinton, "Deep Learning," Nature, vol. 521, pp. 436–444, 2015. </a:t>
            </a:r>
            <a:endParaRPr sz="2600"/>
          </a:p>
          <a:p>
            <a:pPr marL="0" indent="76200">
              <a:lnSpc>
                <a:spcPct val="80000"/>
              </a:lnSpc>
              <a:buSzTx/>
              <a:buNone/>
              <a:defRPr sz="1800">
                <a:latin typeface="Cambria"/>
                <a:ea typeface="Cambria"/>
                <a:cs typeface="Cambria"/>
                <a:sym typeface="Cambria"/>
              </a:defRPr>
            </a:pPr>
            <a:r>
              <a:t>[9] A. S. Syntetos and J. Boylan, "Forecasting for Financial Decision Making: Applications of Machine Learning,"Eur. J. Oper. Res., vol. 289, no. 3, pp. 838–850, 2021. </a:t>
            </a:r>
            <a:endParaRPr sz="2600"/>
          </a:p>
          <a:p>
            <a:pPr marL="0" indent="76200">
              <a:lnSpc>
                <a:spcPct val="80000"/>
              </a:lnSpc>
              <a:buSzTx/>
              <a:buNone/>
              <a:defRPr sz="1800">
                <a:latin typeface="Cambria"/>
                <a:ea typeface="Cambria"/>
                <a:cs typeface="Cambria"/>
                <a:sym typeface="Cambria"/>
              </a:defRPr>
            </a:pPr>
            <a:r>
              <a:t>[10] M. Singh and S. Malhotra, "The Role of FinTech in Financial Services: Disruption and Opportunities," J. Bus. Res., vol. 146, pp. 112–120, 2022</a:t>
            </a:r>
            <a:r>
              <a:rPr sz="1600">
                <a:latin typeface="Verdana"/>
                <a:ea typeface="Verdana"/>
                <a:cs typeface="Verdana"/>
                <a:sym typeface="Verdana"/>
              </a:rPr>
              <a:t>.</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6" name="Picture 4" descr="Picture 4"/>
          <p:cNvPicPr>
            <a:picLocks noChangeAspect="1"/>
          </p:cNvPicPr>
          <p:nvPr/>
        </p:nvPicPr>
        <p:blipFill>
          <a:blip r:embed="rId2"/>
          <a:stretch>
            <a:fillRect/>
          </a:stretch>
        </p:blipFill>
        <p:spPr>
          <a:xfrm>
            <a:off x="4082810" y="1441315"/>
            <a:ext cx="3893306" cy="3935472"/>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Helvetica"/>
        <a:ea typeface="Helvetica"/>
        <a:cs typeface="Helvetica"/>
      </a:majorFont>
      <a:minorFont>
        <a:latin typeface="Arial"/>
        <a:ea typeface="Arial"/>
        <a:cs typeface="Arial"/>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Bioinformatics">
  <a:themeElements>
    <a:clrScheme name="Bioinformatics">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Bioinformatics">
      <a:majorFont>
        <a:latin typeface="Helvetica"/>
        <a:ea typeface="Helvetica"/>
        <a:cs typeface="Helvetica"/>
      </a:majorFont>
      <a:minorFont>
        <a:latin typeface="Arial"/>
        <a:ea typeface="Arial"/>
        <a:cs typeface="Arial"/>
      </a:minorFont>
    </a:fontScheme>
    <a:fmtScheme name="Bioinformatic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19</Slides>
  <Notes>0</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Bioinformatics</vt:lpstr>
      <vt:lpstr>SMART PERSONAL FINANCE AUTOMATOR</vt:lpstr>
      <vt:lpstr>Problem Statement Number: </vt:lpstr>
      <vt:lpstr>Content</vt:lpstr>
      <vt:lpstr>Literature Survey</vt:lpstr>
      <vt:lpstr>Literature Survey</vt:lpstr>
      <vt:lpstr>Literature Survey</vt:lpstr>
      <vt:lpstr>Abstract</vt:lpstr>
      <vt:lpstr>Objectives</vt:lpstr>
      <vt:lpstr>Existing Methods and Drawbacks</vt:lpstr>
      <vt:lpstr>Proposed Methods and Feasibility Study</vt:lpstr>
      <vt:lpstr>Proposed Methods and Feasibility Study(Continuation)…</vt:lpstr>
      <vt:lpstr>Architecture Diagram</vt:lpstr>
      <vt:lpstr>​Modules</vt:lpstr>
      <vt:lpstr>​Modules</vt:lpstr>
      <vt:lpstr>​Modules</vt:lpstr>
      <vt:lpstr>Hardware and Software Details</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PERSONAL FINANCE AUTOMATOR</dc:title>
  <cp:lastModifiedBy>VAISHNAVI SASTRY S</cp:lastModifiedBy>
  <cp:revision>1</cp:revision>
  <dcterms:modified xsi:type="dcterms:W3CDTF">2025-11-10T15:46:40Z</dcterms:modified>
</cp:coreProperties>
</file>