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9" r:id="rId3"/>
    <p:sldId id="276" r:id="rId4"/>
    <p:sldId id="275" r:id="rId5"/>
    <p:sldId id="277" r:id="rId6"/>
    <p:sldId id="273" r:id="rId7"/>
    <p:sldId id="272" r:id="rId8"/>
    <p:sldId id="278" r:id="rId9"/>
    <p:sldId id="279" r:id="rId10"/>
    <p:sldId id="271" r:id="rId11"/>
    <p:sldId id="268" r:id="rId12"/>
    <p:sldId id="270"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24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5185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iosrjournals.org/iosr-jce/papers/Vol27-issue1/Ser-1/B2701010717.pdf"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smtClean="0">
                <a:solidFill>
                  <a:schemeClr val="tx1"/>
                </a:solidFill>
                <a:latin typeface="Cambria" panose="02040503050406030204" pitchFamily="18" charset="0"/>
                <a:ea typeface="Cambria" panose="02040503050406030204" pitchFamily="18" charset="0"/>
              </a:rPr>
              <a:t>SMART PERSONAL FINANCE AUTOMATOR</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a:t>
            </a:r>
            <a:r>
              <a:rPr lang="en-GB" sz="1800" dirty="0" smtClean="0">
                <a:latin typeface="Cambria" panose="02040503050406030204" pitchFamily="18" charset="0"/>
                <a:ea typeface="Cambria" panose="02040503050406030204" pitchFamily="18" charset="0"/>
              </a:rPr>
              <a:t>Number:</a:t>
            </a:r>
            <a:r>
              <a:rPr lang="en-IN" sz="1800" dirty="0" smtClean="0">
                <a:latin typeface="Cambria" panose="02040503050406030204" pitchFamily="18" charset="0"/>
                <a:ea typeface="Cambria" panose="02040503050406030204" pitchFamily="18" charset="0"/>
              </a:rPr>
              <a:t>CSE_79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IN" sz="1800" dirty="0" smtClean="0"/>
              <a:t>                            </a:t>
            </a:r>
            <a:r>
              <a:rPr lang="en-IN" sz="1800" dirty="0" err="1" smtClean="0"/>
              <a:t>Ms.Sreelatha</a:t>
            </a:r>
            <a:r>
              <a:rPr lang="en-IN" sz="1800" dirty="0" smtClean="0"/>
              <a:t> P.K</a:t>
            </a:r>
          </a:p>
          <a:p>
            <a:pPr lvl="0">
              <a:spcBef>
                <a:spcPts val="340"/>
              </a:spcBef>
              <a:buClr>
                <a:srgbClr val="17365D"/>
              </a:buClr>
              <a:buSzPts val="1700"/>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                                     Assistant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              School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of Computer Science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and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                                   Presidency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735757240"/>
              </p:ext>
            </p:extLst>
          </p:nvPr>
        </p:nvGraphicFramePr>
        <p:xfrm>
          <a:off x="553347" y="2721840"/>
          <a:ext cx="5418675" cy="329190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xmlns="" val="20000"/>
                    </a:ext>
                  </a:extLst>
                </a:gridCol>
                <a:gridCol w="3333675">
                  <a:extLst>
                    <a:ext uri="{9D8B030D-6E8A-4147-A177-3AD203B41FA5}">
                      <a16:colId xmlns:a16="http://schemas.microsoft.com/office/drawing/2014/main" xmlns=""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306243">
                <a:tc>
                  <a:txBody>
                    <a:bodyPr/>
                    <a:lstStyle/>
                    <a:p>
                      <a:pPr marL="0" marR="0" lvl="0" indent="0" algn="ctr" rtl="0">
                        <a:spcBef>
                          <a:spcPts val="0"/>
                        </a:spcBef>
                        <a:spcAft>
                          <a:spcPts val="0"/>
                        </a:spcAft>
                        <a:buFont typeface="+mj-lt"/>
                        <a:buNone/>
                      </a:pPr>
                      <a:r>
                        <a:rPr lang="en-IN" sz="1800" u="none" strike="noStrike" cap="none" dirty="0" smtClean="0"/>
                        <a:t>20211CSE0493       </a:t>
                      </a:r>
                    </a:p>
                    <a:p>
                      <a:pPr marL="0" marR="0" lvl="0" indent="0" algn="ctr" rtl="0">
                        <a:spcBef>
                          <a:spcPts val="0"/>
                        </a:spcBef>
                        <a:spcAft>
                          <a:spcPts val="0"/>
                        </a:spcAft>
                        <a:buFont typeface="+mj-lt"/>
                        <a:buNone/>
                      </a:pPr>
                      <a:r>
                        <a:rPr lang="en-IN" sz="1800" u="none" strike="noStrike" cap="none" dirty="0" smtClean="0"/>
                        <a:t>20221CSE0492</a:t>
                      </a:r>
                    </a:p>
                    <a:p>
                      <a:pPr marL="0" marR="0" lvl="0" indent="0" algn="ctr" rtl="0">
                        <a:spcBef>
                          <a:spcPts val="0"/>
                        </a:spcBef>
                        <a:spcAft>
                          <a:spcPts val="0"/>
                        </a:spcAft>
                        <a:buFont typeface="+mj-lt"/>
                        <a:buNone/>
                      </a:pPr>
                      <a:r>
                        <a:rPr lang="en-IN" sz="1800" u="none" strike="noStrike" cap="none" dirty="0" smtClean="0"/>
                        <a:t>20221CSE0334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u="none" strike="noStrike" cap="none" dirty="0" smtClean="0"/>
                    </a:p>
                    <a:p>
                      <a:pPr marL="0" marR="0" lvl="0" indent="0" algn="ctr" rtl="0">
                        <a:spcBef>
                          <a:spcPts val="0"/>
                        </a:spcBef>
                        <a:spcAft>
                          <a:spcPts val="0"/>
                        </a:spcAft>
                        <a:buNone/>
                      </a:pPr>
                      <a:r>
                        <a:rPr lang="en-IN" sz="1800" u="none" strike="noStrike" cap="none" dirty="0" err="1" smtClean="0"/>
                        <a:t>Arunachalam</a:t>
                      </a:r>
                      <a:r>
                        <a:rPr lang="en-IN" sz="1800" u="none" strike="noStrike" cap="none" dirty="0" smtClean="0"/>
                        <a:t> T</a:t>
                      </a:r>
                    </a:p>
                    <a:p>
                      <a:pPr marL="0" marR="0" lvl="0" indent="0" algn="ctr" rtl="0">
                        <a:spcBef>
                          <a:spcPts val="0"/>
                        </a:spcBef>
                        <a:spcAft>
                          <a:spcPts val="0"/>
                        </a:spcAft>
                        <a:buNone/>
                      </a:pPr>
                      <a:r>
                        <a:rPr lang="en-IN" sz="1800" u="none" strike="noStrike" cap="none" dirty="0" err="1" smtClean="0"/>
                        <a:t>Vaishnavi</a:t>
                      </a:r>
                      <a:r>
                        <a:rPr lang="en-IN" sz="1800" u="none" strike="noStrike" cap="none" dirty="0" smtClean="0"/>
                        <a:t> </a:t>
                      </a:r>
                      <a:r>
                        <a:rPr lang="en-IN" sz="1800" u="none" strike="noStrike" cap="none" dirty="0" err="1" smtClean="0"/>
                        <a:t>Sastry</a:t>
                      </a:r>
                      <a:r>
                        <a:rPr lang="en-IN" sz="1800" u="none" strike="noStrike" cap="none" dirty="0" smtClean="0"/>
                        <a:t> S</a:t>
                      </a:r>
                    </a:p>
                    <a:p>
                      <a:pPr marL="0" marR="0" lvl="0" indent="0" algn="ctr" rtl="0">
                        <a:spcBef>
                          <a:spcPts val="0"/>
                        </a:spcBef>
                        <a:spcAft>
                          <a:spcPts val="0"/>
                        </a:spcAft>
                        <a:buNone/>
                      </a:pPr>
                      <a:r>
                        <a:rPr lang="en-IN" sz="1800" u="none" strike="noStrike" cap="none" dirty="0" smtClean="0"/>
                        <a:t>Rakshitha DS</a:t>
                      </a:r>
                    </a:p>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smtClean="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ea typeface="Cambria" panose="02040503050406030204" pitchFamily="18" charset="0"/>
                <a:cs typeface="Verdana"/>
                <a:sym typeface="Verdana"/>
              </a:rPr>
              <a:t>BTECH Computer Science And Engineering</a:t>
            </a:r>
            <a:endPar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smtClean="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dirty="0" err="1" smtClean="0"/>
              <a:t>Dr.Asif</a:t>
            </a:r>
            <a:r>
              <a:rPr lang="en-IN" sz="1800" dirty="0" smtClean="0"/>
              <a:t> </a:t>
            </a:r>
            <a:r>
              <a:rPr lang="en-IN" sz="1800" dirty="0"/>
              <a:t>Mohammed and </a:t>
            </a:r>
            <a:r>
              <a:rPr lang="en-IN" sz="1800" dirty="0" err="1"/>
              <a:t>Dr.</a:t>
            </a:r>
            <a:r>
              <a:rPr lang="en-IN" sz="1800" dirty="0"/>
              <a:t> Blessed </a:t>
            </a:r>
            <a:r>
              <a:rPr lang="en-IN" sz="1800" dirty="0" smtClean="0"/>
              <a:t>Prince</a:t>
            </a:r>
          </a:p>
          <a:p>
            <a:pPr>
              <a:buClr>
                <a:srgbClr val="17365D"/>
              </a:buClr>
              <a:buSzPct val="100000"/>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Name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of the Program Project Coordinator: </a:t>
            </a:r>
            <a:r>
              <a:rPr lang="en-US" sz="1800" b="1" dirty="0">
                <a:solidFill>
                  <a:schemeClr val="tx1"/>
                </a:solidFill>
                <a:latin typeface="Cambria"/>
                <a:ea typeface="Cambria"/>
                <a:sym typeface="Verdana"/>
              </a:rPr>
              <a:t>Dr. </a:t>
            </a:r>
            <a:r>
              <a:rPr lang="en-US" sz="1800" b="1" dirty="0" err="1">
                <a:solidFill>
                  <a:schemeClr val="tx1"/>
                </a:solidFill>
                <a:latin typeface="Cambria"/>
                <a:ea typeface="Cambria"/>
                <a:sym typeface="Verdana"/>
              </a:rPr>
              <a:t>Jayavadivel</a:t>
            </a:r>
            <a:r>
              <a:rPr lang="en-US" sz="1800" b="1" dirty="0">
                <a:solidFill>
                  <a:schemeClr val="tx1"/>
                </a:solidFill>
                <a:latin typeface="Cambria"/>
                <a:ea typeface="Cambria"/>
                <a:sym typeface="Verdana"/>
              </a:rPr>
              <a:t> Ravi</a:t>
            </a:r>
            <a:endParaRPr lang="en-US" sz="1800" b="1" dirty="0">
              <a:solidFill>
                <a:schemeClr val="tx1"/>
              </a:solidFill>
              <a:latin typeface="Cambria"/>
              <a:ea typeface="Cambria"/>
            </a:endParaRPr>
          </a:p>
          <a:p>
            <a:pPr lvl="0">
              <a:buClr>
                <a:srgbClr val="17365D"/>
              </a:buClr>
              <a:buSzPct val="100000"/>
            </a:pPr>
            <a:r>
              <a:rPr lang="en-US" sz="1800" b="1" dirty="0" smtClean="0">
                <a:solidFill>
                  <a:schemeClr val="accent1"/>
                </a:solidFill>
                <a:latin typeface="Cambria" panose="02040503050406030204" pitchFamily="18" charset="0"/>
                <a:ea typeface="Cambria" panose="02040503050406030204" pitchFamily="18" charset="0"/>
                <a:cs typeface="Verdana"/>
                <a:sym typeface="Verdana"/>
              </a:rPr>
              <a:t>Name </a:t>
            </a:r>
            <a:r>
              <a:rPr lang="en-US" sz="1800" b="1" dirty="0" smtClean="0">
                <a:solidFill>
                  <a:schemeClr val="accent1"/>
                </a:solidFill>
                <a:latin typeface="Cambria" panose="02040503050406030204" pitchFamily="18" charset="0"/>
                <a:ea typeface="Cambria" panose="02040503050406030204" pitchFamily="18" charset="0"/>
                <a:cs typeface="Verdana"/>
                <a:sym typeface="Verdana"/>
              </a:rPr>
              <a:t>of the School Project Coordinators: </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smtClean="0">
                <a:latin typeface="Cambria" panose="02040503050406030204" pitchFamily="18" charset="0"/>
                <a:ea typeface="Cambria" panose="02040503050406030204" pitchFamily="18" charset="0"/>
              </a:rPr>
              <a:t>Problem Statement Number: </a:t>
            </a:r>
            <a:r>
              <a:rPr lang="en-IN" dirty="0" smtClean="0">
                <a:latin typeface="Cambria" panose="02040503050406030204" pitchFamily="18" charset="0"/>
                <a:ea typeface="Cambria" panose="02040503050406030204" pitchFamily="18" charset="0"/>
              </a:rPr>
              <a:t>PSCS_154</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sz="1800" dirty="0" smtClean="0">
                <a:latin typeface="Cambria" panose="02040503050406030204" pitchFamily="18" charset="0"/>
                <a:ea typeface="Cambria" panose="02040503050406030204" pitchFamily="18" charset="0"/>
              </a:rPr>
              <a:t>Organization : Smart Automation</a:t>
            </a:r>
            <a:endParaRPr lang="en-US" sz="1800"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1800" dirty="0">
                <a:latin typeface="Cambria" panose="02040503050406030204" pitchFamily="18" charset="0"/>
                <a:ea typeface="Cambria" panose="02040503050406030204" pitchFamily="18" charset="0"/>
              </a:rPr>
              <a:t>Category </a:t>
            </a:r>
            <a:r>
              <a:rPr lang="en-US" sz="1800" dirty="0" smtClean="0">
                <a:latin typeface="Cambria" panose="02040503050406030204" pitchFamily="18" charset="0"/>
                <a:ea typeface="Cambria" panose="02040503050406030204" pitchFamily="18" charset="0"/>
              </a:rPr>
              <a:t>(Hardware / Software / Both</a:t>
            </a:r>
            <a:r>
              <a:rPr lang="en-US" sz="1800" dirty="0">
                <a:latin typeface="Cambria" panose="02040503050406030204" pitchFamily="18" charset="0"/>
                <a:ea typeface="Cambria" panose="02040503050406030204" pitchFamily="18" charset="0"/>
              </a:rPr>
              <a:t>) </a:t>
            </a:r>
            <a:r>
              <a:rPr lang="en-US" sz="1800" dirty="0" smtClean="0">
                <a:latin typeface="Cambria" panose="02040503050406030204" pitchFamily="18" charset="0"/>
                <a:ea typeface="Cambria" panose="02040503050406030204" pitchFamily="18" charset="0"/>
              </a:rPr>
              <a:t>: Software</a:t>
            </a:r>
            <a:endParaRPr lang="en-US" sz="1800" dirty="0" smtClean="0">
              <a:latin typeface="Cambria" panose="02040503050406030204" pitchFamily="18" charset="0"/>
              <a:ea typeface="Cambria" panose="02040503050406030204" pitchFamily="18" charset="0"/>
            </a:endParaRPr>
          </a:p>
          <a:p>
            <a:pPr marL="342900" lvl="0" indent="-190500" algn="just">
              <a:lnSpc>
                <a:spcPct val="150000"/>
              </a:lnSpc>
              <a:spcBef>
                <a:spcPts val="0"/>
              </a:spcBef>
              <a:buNone/>
            </a:pPr>
            <a:r>
              <a:rPr lang="en-US" sz="1800" dirty="0">
                <a:latin typeface="Cambria" panose="02040503050406030204" pitchFamily="18" charset="0"/>
                <a:ea typeface="Cambria" panose="02040503050406030204" pitchFamily="18" charset="0"/>
              </a:rPr>
              <a:t>Problem </a:t>
            </a:r>
            <a:r>
              <a:rPr lang="en-US" sz="1800" dirty="0" smtClean="0">
                <a:latin typeface="Cambria" panose="02040503050406030204" pitchFamily="18" charset="0"/>
                <a:ea typeface="Cambria" panose="02040503050406030204" pitchFamily="18" charset="0"/>
              </a:rPr>
              <a:t>Description </a:t>
            </a:r>
            <a:r>
              <a:rPr lang="en-US" sz="2300" dirty="0" smtClean="0">
                <a:latin typeface="Cambria" panose="02040503050406030204" pitchFamily="18" charset="0"/>
                <a:ea typeface="Cambria" panose="02040503050406030204" pitchFamily="18" charset="0"/>
              </a:rPr>
              <a:t>: </a:t>
            </a:r>
            <a:r>
              <a:rPr lang="en-GB" sz="1600" dirty="0" smtClean="0">
                <a:latin typeface="Cambria" panose="02040503050406030204" pitchFamily="18" charset="0"/>
                <a:ea typeface="Cambria" panose="02040503050406030204" pitchFamily="18" charset="0"/>
              </a:rPr>
              <a:t>The </a:t>
            </a:r>
            <a:r>
              <a:rPr lang="en-GB" sz="1600" dirty="0">
                <a:latin typeface="Cambria" panose="02040503050406030204" pitchFamily="18" charset="0"/>
                <a:ea typeface="Cambria" panose="02040503050406030204" pitchFamily="18" charset="0"/>
              </a:rPr>
              <a:t>"Smart Personal Finance </a:t>
            </a:r>
            <a:r>
              <a:rPr lang="en-GB" sz="1600" dirty="0" err="1">
                <a:latin typeface="Cambria" panose="02040503050406030204" pitchFamily="18" charset="0"/>
                <a:ea typeface="Cambria" panose="02040503050406030204" pitchFamily="18" charset="0"/>
              </a:rPr>
              <a:t>Automator</a:t>
            </a:r>
            <a:r>
              <a:rPr lang="en-GB" sz="1600" dirty="0">
                <a:latin typeface="Cambria" panose="02040503050406030204" pitchFamily="18" charset="0"/>
                <a:ea typeface="Cambria" panose="02040503050406030204" pitchFamily="18" charset="0"/>
              </a:rPr>
              <a:t>" is a web-based application designed to address the challenges of manual expense management. The system will automatically ingest and parse financial transaction data from bank SMS and email alerts. Using Natural Language Processing (NLP), it will intelligently extract key details like transaction amount, vendor, and date. This structured data is then used to auto-categorize expenses and generate interactive visual reports. The platform aims to provide users with a seamless and insightful overview of their spending patterns and offer personalized recommendations to improve their budgeting and saving habits, ultimately fostering better financial health.</a:t>
            </a:r>
            <a:endParaRPr lang="en-US" sz="16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Content</a:t>
            </a:r>
            <a:endParaRPr lang="en-IN" dirty="0"/>
          </a:p>
        </p:txBody>
      </p:sp>
      <p:sp>
        <p:nvSpPr>
          <p:cNvPr id="3" name="Text Placeholder 2"/>
          <p:cNvSpPr>
            <a:spLocks noGrp="1"/>
          </p:cNvSpPr>
          <p:nvPr>
            <p:ph type="body" idx="1"/>
          </p:nvPr>
        </p:nvSpPr>
        <p:spPr/>
        <p:txBody>
          <a:bodyPr/>
          <a:lstStyle/>
          <a:p>
            <a:pPr marL="76200" indent="0">
              <a:buNone/>
            </a:pPr>
            <a:r>
              <a:rPr lang="en-IN" dirty="0" smtClean="0">
                <a:latin typeface="Cambria" panose="02040503050406030204" pitchFamily="18" charset="0"/>
                <a:ea typeface="Cambria" panose="02040503050406030204" pitchFamily="18" charset="0"/>
              </a:rPr>
              <a:t>Problem Statement</a:t>
            </a:r>
            <a:endParaRPr lang="en-IN" dirty="0">
              <a:latin typeface="Cambria" panose="02040503050406030204" pitchFamily="18" charset="0"/>
              <a:ea typeface="Cambria" panose="02040503050406030204" pitchFamily="18" charset="0"/>
            </a:endParaRPr>
          </a:p>
          <a:p>
            <a:pPr marL="76200" indent="0">
              <a:lnSpc>
                <a:spcPct val="150000"/>
              </a:lnSpc>
              <a:buNone/>
            </a:pPr>
            <a:r>
              <a:rPr lang="en-GB" sz="1600" dirty="0">
                <a:latin typeface="Cambria" panose="02040503050406030204" pitchFamily="18" charset="0"/>
                <a:ea typeface="Cambria" panose="02040503050406030204" pitchFamily="18" charset="0"/>
              </a:rPr>
              <a:t>Manual expense tracking is a tedious, time-consuming, and error-prone process. Most individuals struggle to gain clear, real-time insights into their financial health due to unstructured data scattered across bank SMS alerts and email notifications. This lack of automated analysis prevents effective budgeting, identifying wasteful spending, and making informed financial decisions, leading to poor financial discipline and missed savings opportunities.</a:t>
            </a:r>
            <a:endParaRPr lang="en-US" sz="1600" dirty="0">
              <a:latin typeface="Cambria" panose="02040503050406030204" pitchFamily="18" charset="0"/>
              <a:ea typeface="Cambria" panose="02040503050406030204" pitchFamily="18" charset="0"/>
            </a:endParaRPr>
          </a:p>
          <a:p>
            <a:pPr marL="76200" indent="0">
              <a:lnSpc>
                <a:spcPct val="150000"/>
              </a:lnSpc>
              <a:buNone/>
            </a:pPr>
            <a:endParaRPr lang="en-IN" sz="1400" dirty="0"/>
          </a:p>
        </p:txBody>
      </p:sp>
    </p:spTree>
    <p:extLst>
      <p:ext uri="{BB962C8B-B14F-4D97-AF65-F5344CB8AC3E}">
        <p14:creationId xmlns:p14="http://schemas.microsoft.com/office/powerpoint/2010/main" val="4202177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Content (continuation)..</a:t>
            </a:r>
            <a:endParaRPr lang="en-IN" dirty="0"/>
          </a:p>
        </p:txBody>
      </p:sp>
      <p:sp>
        <p:nvSpPr>
          <p:cNvPr id="3" name="Text Placeholder 2"/>
          <p:cNvSpPr>
            <a:spLocks noGrp="1"/>
          </p:cNvSpPr>
          <p:nvPr>
            <p:ph type="body" idx="1"/>
          </p:nvPr>
        </p:nvSpPr>
        <p:spPr/>
        <p:txBody>
          <a:bodyPr>
            <a:normAutofit fontScale="62500" lnSpcReduction="20000"/>
          </a:bodyPr>
          <a:lstStyle/>
          <a:p>
            <a:pPr marL="152400" indent="0" algn="just">
              <a:lnSpc>
                <a:spcPct val="200000"/>
              </a:lnSpc>
              <a:spcBef>
                <a:spcPts val="0"/>
              </a:spcBef>
              <a:buNone/>
            </a:pPr>
            <a:r>
              <a:rPr lang="en-US" sz="4400" dirty="0" smtClean="0">
                <a:latin typeface="Cambria"/>
                <a:ea typeface="Cambria"/>
              </a:rPr>
              <a:t>Objectives</a:t>
            </a:r>
          </a:p>
          <a:p>
            <a:pPr marL="495300" indent="-342900" algn="just">
              <a:lnSpc>
                <a:spcPct val="170000"/>
              </a:lnSpc>
              <a:spcBef>
                <a:spcPts val="0"/>
              </a:spcBef>
              <a:buFont typeface="Arial" panose="020B0604020202020204" pitchFamily="34" charset="0"/>
              <a:buChar char="•"/>
            </a:pPr>
            <a:r>
              <a:rPr lang="en-GB" sz="2600" dirty="0">
                <a:latin typeface="Cambria"/>
                <a:ea typeface="Cambria"/>
              </a:rPr>
              <a:t>The primary objectives of this project are </a:t>
            </a:r>
            <a:r>
              <a:rPr lang="en-GB" sz="2600" dirty="0" err="1" smtClean="0">
                <a:latin typeface="Cambria"/>
                <a:ea typeface="Cambria"/>
              </a:rPr>
              <a:t>to:</a:t>
            </a:r>
            <a:r>
              <a:rPr lang="en-GB" sz="2600" dirty="0" err="1">
                <a:latin typeface="Cambria"/>
                <a:ea typeface="Cambria"/>
              </a:rPr>
              <a:t>Automate</a:t>
            </a:r>
            <a:r>
              <a:rPr lang="en-GB" sz="2600" dirty="0">
                <a:latin typeface="Cambria"/>
                <a:ea typeface="Cambria"/>
              </a:rPr>
              <a:t> Data Extraction: Design and develop a robust system to automatically parse and extract transaction data from unstructured bank SMS and email text.</a:t>
            </a:r>
          </a:p>
          <a:p>
            <a:pPr marL="495300" indent="-342900" algn="just">
              <a:lnSpc>
                <a:spcPct val="170000"/>
              </a:lnSpc>
              <a:spcBef>
                <a:spcPts val="0"/>
              </a:spcBef>
              <a:buFont typeface="Arial" panose="020B0604020202020204" pitchFamily="34" charset="0"/>
              <a:buChar char="•"/>
            </a:pPr>
            <a:r>
              <a:rPr lang="en-GB" sz="2600" dirty="0">
                <a:latin typeface="Cambria"/>
                <a:ea typeface="Cambria"/>
              </a:rPr>
              <a:t>Develop an NLP Categorization Model: Implement and train a Natural Language Processing model using Python and </a:t>
            </a:r>
            <a:r>
              <a:rPr lang="en-GB" sz="2600" dirty="0" err="1">
                <a:latin typeface="Cambria"/>
                <a:ea typeface="Cambria"/>
              </a:rPr>
              <a:t>spaCy</a:t>
            </a:r>
            <a:r>
              <a:rPr lang="en-GB" sz="2600" dirty="0">
                <a:latin typeface="Cambria"/>
                <a:ea typeface="Cambria"/>
              </a:rPr>
              <a:t> to intelligently classify transactions into relevant spending categories (e.g., groceries, utilities, transport).</a:t>
            </a:r>
          </a:p>
          <a:p>
            <a:pPr marL="495300" indent="-342900" algn="just">
              <a:lnSpc>
                <a:spcPct val="170000"/>
              </a:lnSpc>
              <a:spcBef>
                <a:spcPts val="0"/>
              </a:spcBef>
              <a:buFont typeface="Arial" panose="020B0604020202020204" pitchFamily="34" charset="0"/>
              <a:buChar char="•"/>
            </a:pPr>
            <a:r>
              <a:rPr lang="en-GB" sz="2600" dirty="0">
                <a:latin typeface="Cambria"/>
                <a:ea typeface="Cambria"/>
              </a:rPr>
              <a:t>Create an Interactive Dashboard: Build a secure, user-friendly web interface with an interactive dashboard using </a:t>
            </a:r>
            <a:r>
              <a:rPr lang="en-GB" sz="2600" dirty="0" err="1">
                <a:latin typeface="Cambria"/>
                <a:ea typeface="Cambria"/>
              </a:rPr>
              <a:t>Plotly</a:t>
            </a:r>
            <a:r>
              <a:rPr lang="en-GB" sz="2600" dirty="0">
                <a:latin typeface="Cambria"/>
                <a:ea typeface="Cambria"/>
              </a:rPr>
              <a:t>/Dash to visualize spending trends, category breakdowns, and monthly financial summaries.</a:t>
            </a:r>
          </a:p>
          <a:p>
            <a:pPr marL="495300" indent="-342900" algn="just">
              <a:lnSpc>
                <a:spcPct val="170000"/>
              </a:lnSpc>
              <a:spcBef>
                <a:spcPts val="0"/>
              </a:spcBef>
              <a:buFont typeface="Arial" panose="020B0604020202020204" pitchFamily="34" charset="0"/>
              <a:buChar char="•"/>
            </a:pPr>
            <a:r>
              <a:rPr lang="en-GB" sz="2600" dirty="0">
                <a:latin typeface="Cambria"/>
                <a:ea typeface="Cambria"/>
              </a:rPr>
              <a:t>Generate Savings Insights: Engineer a recommendation engine that </a:t>
            </a:r>
            <a:r>
              <a:rPr lang="en-GB" sz="2600" dirty="0" err="1">
                <a:latin typeface="Cambria"/>
                <a:ea typeface="Cambria"/>
              </a:rPr>
              <a:t>analyzes</a:t>
            </a:r>
            <a:r>
              <a:rPr lang="en-GB" sz="2600" dirty="0">
                <a:latin typeface="Cambria"/>
                <a:ea typeface="Cambria"/>
              </a:rPr>
              <a:t> user spending patterns and provides personalized, actionable suggestions to optimize expenses and improve savings.</a:t>
            </a:r>
          </a:p>
          <a:p>
            <a:pPr marL="495300" indent="-342900" algn="just">
              <a:lnSpc>
                <a:spcPct val="170000"/>
              </a:lnSpc>
              <a:spcBef>
                <a:spcPts val="0"/>
              </a:spcBef>
              <a:buFont typeface="Arial" panose="020B0604020202020204" pitchFamily="34" charset="0"/>
              <a:buChar char="•"/>
            </a:pPr>
            <a:r>
              <a:rPr lang="en-GB" sz="2600" dirty="0">
                <a:latin typeface="Cambria"/>
                <a:ea typeface="Cambria"/>
              </a:rPr>
              <a:t>Ensure Secure Access: Implement user authentication and ensure the encrypted storage of all sensitive financial data to maintain user privacy and </a:t>
            </a:r>
            <a:r>
              <a:rPr lang="en-GB" sz="2600" dirty="0" smtClean="0">
                <a:latin typeface="Cambria"/>
                <a:ea typeface="Cambria"/>
              </a:rPr>
              <a:t>security</a:t>
            </a:r>
            <a:r>
              <a:rPr lang="en-US" sz="2600" dirty="0">
                <a:latin typeface="Cambria"/>
                <a:ea typeface="Cambria"/>
              </a:rPr>
              <a:t>.</a:t>
            </a:r>
            <a:endParaRPr lang="en-GB" sz="2600" dirty="0" smtClean="0">
              <a:latin typeface="Cambria"/>
              <a:ea typeface="Cambria"/>
            </a:endParaRPr>
          </a:p>
        </p:txBody>
      </p:sp>
    </p:spTree>
    <p:extLst>
      <p:ext uri="{BB962C8B-B14F-4D97-AF65-F5344CB8AC3E}">
        <p14:creationId xmlns:p14="http://schemas.microsoft.com/office/powerpoint/2010/main" val="562044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Content (continuation)..</a:t>
            </a:r>
            <a:endParaRPr lang="en-IN" dirty="0"/>
          </a:p>
        </p:txBody>
      </p:sp>
      <p:sp>
        <p:nvSpPr>
          <p:cNvPr id="3" name="Text Placeholder 2"/>
          <p:cNvSpPr>
            <a:spLocks noGrp="1"/>
          </p:cNvSpPr>
          <p:nvPr>
            <p:ph type="body" idx="1"/>
          </p:nvPr>
        </p:nvSpPr>
        <p:spPr/>
        <p:txBody>
          <a:bodyPr>
            <a:normAutofit fontScale="92500" lnSpcReduction="10000"/>
          </a:bodyPr>
          <a:lstStyle/>
          <a:p>
            <a:pPr marL="76200" indent="0">
              <a:buNone/>
            </a:pPr>
            <a:r>
              <a:rPr lang="en-US" sz="2600" dirty="0" smtClean="0">
                <a:latin typeface="Cambria" panose="02040503050406030204" pitchFamily="18" charset="0"/>
                <a:ea typeface="Cambria" panose="02040503050406030204" pitchFamily="18" charset="0"/>
              </a:rPr>
              <a:t>Background and Related work for title Selection</a:t>
            </a:r>
          </a:p>
          <a:p>
            <a:pPr marL="76200" indent="0">
              <a:lnSpc>
                <a:spcPct val="150000"/>
              </a:lnSpc>
              <a:buNone/>
            </a:pPr>
            <a:r>
              <a:rPr lang="en-GB" sz="1600" dirty="0">
                <a:latin typeface="Cambria" panose="02040503050406030204" pitchFamily="18" charset="0"/>
                <a:ea typeface="Cambria" panose="02040503050406030204" pitchFamily="18" charset="0"/>
                <a:cs typeface="Calibri" panose="020F0502020204030204" pitchFamily="34" charset="0"/>
              </a:rPr>
              <a:t>Evolution of Tools: Personal finance management has progressed from manual ledgers and digital spreadsheets to automated mobile applications</a:t>
            </a:r>
            <a:r>
              <a:rPr lang="en-GB" sz="1600" dirty="0" smtClean="0">
                <a:latin typeface="Cambria" panose="02040503050406030204" pitchFamily="18" charset="0"/>
                <a:ea typeface="Cambria" panose="02040503050406030204" pitchFamily="18" charset="0"/>
                <a:cs typeface="Calibri" panose="020F0502020204030204" pitchFamily="34" charset="0"/>
              </a:rPr>
              <a:t>.</a:t>
            </a:r>
          </a:p>
          <a:p>
            <a:pPr marL="76200" indent="0">
              <a:lnSpc>
                <a:spcPct val="150000"/>
              </a:lnSpc>
              <a:buNone/>
            </a:pPr>
            <a:r>
              <a:rPr lang="en-GB" sz="1600" dirty="0" smtClean="0">
                <a:latin typeface="Cambria" panose="02040503050406030204" pitchFamily="18" charset="0"/>
                <a:ea typeface="Cambria" panose="02040503050406030204" pitchFamily="18" charset="0"/>
                <a:cs typeface="Calibri" panose="020F0502020204030204" pitchFamily="34" charset="0"/>
              </a:rPr>
              <a:t>Commercial </a:t>
            </a:r>
            <a:r>
              <a:rPr lang="en-GB" sz="1600" dirty="0">
                <a:latin typeface="Cambria" panose="02040503050406030204" pitchFamily="18" charset="0"/>
                <a:ea typeface="Cambria" panose="02040503050406030204" pitchFamily="18" charset="0"/>
                <a:cs typeface="Calibri" panose="020F0502020204030204" pitchFamily="34" charset="0"/>
              </a:rPr>
              <a:t>App Limitations</a:t>
            </a:r>
            <a:r>
              <a:rPr lang="en-GB" sz="1600" dirty="0" smtClean="0">
                <a:latin typeface="Cambria" panose="02040503050406030204" pitchFamily="18" charset="0"/>
                <a:ea typeface="Cambria" panose="02040503050406030204" pitchFamily="18" charset="0"/>
                <a:cs typeface="Calibri" panose="020F0502020204030204" pitchFamily="34" charset="0"/>
              </a:rPr>
              <a:t>:</a:t>
            </a:r>
          </a:p>
          <a:p>
            <a:pPr>
              <a:lnSpc>
                <a:spcPct val="150000"/>
              </a:lnSpc>
            </a:pPr>
            <a:r>
              <a:rPr lang="en-GB" sz="1600" dirty="0" smtClean="0">
                <a:latin typeface="Cambria" panose="02040503050406030204" pitchFamily="18" charset="0"/>
                <a:ea typeface="Cambria" panose="02040503050406030204" pitchFamily="18" charset="0"/>
                <a:cs typeface="Calibri" panose="020F0502020204030204" pitchFamily="34" charset="0"/>
              </a:rPr>
              <a:t>Popular </a:t>
            </a:r>
            <a:r>
              <a:rPr lang="en-GB" sz="1600" dirty="0">
                <a:latin typeface="Cambria" panose="02040503050406030204" pitchFamily="18" charset="0"/>
                <a:ea typeface="Cambria" panose="02040503050406030204" pitchFamily="18" charset="0"/>
                <a:cs typeface="Calibri" panose="020F0502020204030204" pitchFamily="34" charset="0"/>
              </a:rPr>
              <a:t>apps like Mint and Walnut often require direct bank access, which raises security concerns for many users</a:t>
            </a:r>
            <a:r>
              <a:rPr lang="en-GB" sz="1600" dirty="0" smtClean="0">
                <a:latin typeface="Cambria" panose="02040503050406030204" pitchFamily="18" charset="0"/>
                <a:ea typeface="Cambria" panose="02040503050406030204" pitchFamily="18" charset="0"/>
                <a:cs typeface="Calibri" panose="020F0502020204030204" pitchFamily="34" charset="0"/>
              </a:rPr>
              <a:t>.</a:t>
            </a:r>
          </a:p>
          <a:p>
            <a:pPr>
              <a:lnSpc>
                <a:spcPct val="150000"/>
              </a:lnSpc>
            </a:pPr>
            <a:r>
              <a:rPr lang="en-GB" sz="1600" dirty="0" smtClean="0">
                <a:latin typeface="Cambria" panose="02040503050406030204" pitchFamily="18" charset="0"/>
                <a:ea typeface="Cambria" panose="02040503050406030204" pitchFamily="18" charset="0"/>
                <a:cs typeface="Calibri" panose="020F0502020204030204" pitchFamily="34" charset="0"/>
              </a:rPr>
              <a:t>Their </a:t>
            </a:r>
            <a:r>
              <a:rPr lang="en-GB" sz="1600" dirty="0">
                <a:latin typeface="Cambria" panose="02040503050406030204" pitchFamily="18" charset="0"/>
                <a:ea typeface="Cambria" panose="02040503050406030204" pitchFamily="18" charset="0"/>
                <a:cs typeface="Calibri" panose="020F0502020204030204" pitchFamily="34" charset="0"/>
              </a:rPr>
              <a:t>categorization rules are often too generic and struggle to parse the diverse SMS formats from various Indian banks</a:t>
            </a:r>
            <a:r>
              <a:rPr lang="en-GB" sz="1600" dirty="0" smtClean="0">
                <a:latin typeface="Cambria" panose="02040503050406030204" pitchFamily="18" charset="0"/>
                <a:ea typeface="Cambria" panose="02040503050406030204" pitchFamily="18" charset="0"/>
                <a:cs typeface="Calibri" panose="020F0502020204030204" pitchFamily="34" charset="0"/>
              </a:rPr>
              <a:t>.</a:t>
            </a:r>
          </a:p>
          <a:p>
            <a:pPr>
              <a:lnSpc>
                <a:spcPct val="150000"/>
              </a:lnSpc>
            </a:pPr>
            <a:r>
              <a:rPr lang="en-GB" sz="1600" dirty="0" smtClean="0">
                <a:latin typeface="Cambria" panose="02040503050406030204" pitchFamily="18" charset="0"/>
                <a:ea typeface="Cambria" panose="02040503050406030204" pitchFamily="18" charset="0"/>
                <a:cs typeface="Calibri" panose="020F0502020204030204" pitchFamily="34" charset="0"/>
              </a:rPr>
              <a:t>SMS-Parser </a:t>
            </a:r>
            <a:r>
              <a:rPr lang="en-GB" sz="1600" dirty="0">
                <a:latin typeface="Cambria" panose="02040503050406030204" pitchFamily="18" charset="0"/>
                <a:ea typeface="Cambria" panose="02040503050406030204" pitchFamily="18" charset="0"/>
                <a:cs typeface="Calibri" panose="020F0502020204030204" pitchFamily="34" charset="0"/>
              </a:rPr>
              <a:t>App Gaps: Simpler apps that focus only on SMS parsing typically lack sophisticated analytics, personalized recommendations, and a comprehensive web dashboard</a:t>
            </a:r>
            <a:r>
              <a:rPr lang="en-GB" sz="1600" dirty="0" smtClean="0">
                <a:latin typeface="Cambria" panose="02040503050406030204" pitchFamily="18" charset="0"/>
                <a:ea typeface="Cambria" panose="02040503050406030204" pitchFamily="18" charset="0"/>
                <a:cs typeface="Calibri" panose="020F0502020204030204" pitchFamily="34" charset="0"/>
              </a:rPr>
              <a:t>.</a:t>
            </a:r>
          </a:p>
          <a:p>
            <a:pPr marL="76200" indent="0">
              <a:lnSpc>
                <a:spcPct val="150000"/>
              </a:lnSpc>
              <a:buNone/>
            </a:pPr>
            <a:r>
              <a:rPr lang="en-GB" sz="1600" dirty="0" smtClean="0">
                <a:latin typeface="Cambria" panose="02040503050406030204" pitchFamily="18" charset="0"/>
                <a:ea typeface="Cambria" panose="02040503050406030204" pitchFamily="18" charset="0"/>
                <a:cs typeface="Calibri" panose="020F0502020204030204" pitchFamily="34" charset="0"/>
              </a:rPr>
              <a:t>Our </a:t>
            </a:r>
            <a:r>
              <a:rPr lang="en-GB" sz="1600" dirty="0">
                <a:latin typeface="Cambria" panose="02040503050406030204" pitchFamily="18" charset="0"/>
                <a:ea typeface="Cambria" panose="02040503050406030204" pitchFamily="18" charset="0"/>
                <a:cs typeface="Calibri" panose="020F0502020204030204" pitchFamily="34" charset="0"/>
              </a:rPr>
              <a:t>Project's Approach</a:t>
            </a:r>
            <a:r>
              <a:rPr lang="en-GB" sz="1600" dirty="0" smtClean="0">
                <a:latin typeface="Cambria" panose="02040503050406030204" pitchFamily="18" charset="0"/>
                <a:ea typeface="Cambria" panose="02040503050406030204" pitchFamily="18" charset="0"/>
                <a:cs typeface="Calibri" panose="020F0502020204030204" pitchFamily="34" charset="0"/>
              </a:rPr>
              <a:t>:</a:t>
            </a:r>
          </a:p>
          <a:p>
            <a:pPr>
              <a:lnSpc>
                <a:spcPct val="150000"/>
              </a:lnSpc>
            </a:pPr>
            <a:r>
              <a:rPr lang="en-GB" sz="1600" dirty="0" smtClean="0">
                <a:latin typeface="Cambria" panose="02040503050406030204" pitchFamily="18" charset="0"/>
                <a:ea typeface="Cambria" panose="02040503050406030204" pitchFamily="18" charset="0"/>
                <a:cs typeface="Calibri" panose="020F0502020204030204" pitchFamily="34" charset="0"/>
              </a:rPr>
              <a:t>We </a:t>
            </a:r>
            <a:r>
              <a:rPr lang="en-GB" sz="1600" dirty="0">
                <a:latin typeface="Cambria" panose="02040503050406030204" pitchFamily="18" charset="0"/>
                <a:ea typeface="Cambria" panose="02040503050406030204" pitchFamily="18" charset="0"/>
                <a:cs typeface="Calibri" panose="020F0502020204030204" pitchFamily="34" charset="0"/>
              </a:rPr>
              <a:t>will build on existing academic research in Natural Language Processing (NLP</a:t>
            </a:r>
            <a:r>
              <a:rPr lang="en-GB" sz="1600" dirty="0" smtClean="0">
                <a:latin typeface="Cambria" panose="02040503050406030204" pitchFamily="18" charset="0"/>
                <a:ea typeface="Cambria" panose="02040503050406030204" pitchFamily="18" charset="0"/>
                <a:cs typeface="Calibri" panose="020F0502020204030204" pitchFamily="34" charset="0"/>
              </a:rPr>
              <a:t>).</a:t>
            </a:r>
          </a:p>
          <a:p>
            <a:pPr>
              <a:lnSpc>
                <a:spcPct val="150000"/>
              </a:lnSpc>
            </a:pPr>
            <a:r>
              <a:rPr lang="en-GB" sz="1600" dirty="0" smtClean="0">
                <a:latin typeface="Cambria" panose="02040503050406030204" pitchFamily="18" charset="0"/>
                <a:ea typeface="Cambria" panose="02040503050406030204" pitchFamily="18" charset="0"/>
                <a:cs typeface="Calibri" panose="020F0502020204030204" pitchFamily="34" charset="0"/>
              </a:rPr>
              <a:t>Our </a:t>
            </a:r>
            <a:r>
              <a:rPr lang="en-GB" sz="1600" dirty="0">
                <a:latin typeface="Cambria" panose="02040503050406030204" pitchFamily="18" charset="0"/>
                <a:ea typeface="Cambria" panose="02040503050406030204" pitchFamily="18" charset="0"/>
                <a:cs typeface="Calibri" panose="020F0502020204030204" pitchFamily="34" charset="0"/>
              </a:rPr>
              <a:t>plan is to create a custom-trained NER (Named Entity Recognition) model to accurately handle the varied syntax of transaction alerts</a:t>
            </a:r>
            <a:r>
              <a:rPr lang="en-GB" sz="1600" dirty="0" smtClean="0">
                <a:latin typeface="Cambria" panose="02040503050406030204" pitchFamily="18" charset="0"/>
                <a:ea typeface="Cambria" panose="02040503050406030204" pitchFamily="18" charset="0"/>
                <a:cs typeface="Calibri" panose="020F0502020204030204" pitchFamily="34" charset="0"/>
              </a:rPr>
              <a:t>.</a:t>
            </a:r>
          </a:p>
          <a:p>
            <a:pPr>
              <a:lnSpc>
                <a:spcPct val="150000"/>
              </a:lnSpc>
            </a:pPr>
            <a:r>
              <a:rPr lang="en-GB" sz="1600" dirty="0" smtClean="0">
                <a:latin typeface="Cambria" panose="02040503050406030204" pitchFamily="18" charset="0"/>
                <a:ea typeface="Cambria" panose="02040503050406030204" pitchFamily="18" charset="0"/>
                <a:cs typeface="Calibri" panose="020F0502020204030204" pitchFamily="34" charset="0"/>
              </a:rPr>
              <a:t>This </a:t>
            </a:r>
            <a:r>
              <a:rPr lang="en-GB" sz="1600" dirty="0">
                <a:latin typeface="Cambria" panose="02040503050406030204" pitchFamily="18" charset="0"/>
                <a:ea typeface="Cambria" panose="02040503050406030204" pitchFamily="18" charset="0"/>
                <a:cs typeface="Calibri" panose="020F0502020204030204" pitchFamily="34" charset="0"/>
              </a:rPr>
              <a:t>will be integrated into a full-stack application focused on delivering secure, actionable insights.</a:t>
            </a:r>
            <a:endParaRPr lang="en-IN" sz="16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561263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smtClean="0">
                <a:latin typeface="Cambria" panose="02040503050406030204" pitchFamily="18" charset="0"/>
                <a:ea typeface="Cambria" panose="02040503050406030204" pitchFamily="18" charset="0"/>
              </a:rPr>
              <a:t>Analysis </a:t>
            </a:r>
            <a:r>
              <a:rPr lang="en-US" dirty="0">
                <a:latin typeface="Cambria" panose="02040503050406030204" pitchFamily="18" charset="0"/>
                <a:ea typeface="Cambria" panose="02040503050406030204" pitchFamily="18" charset="0"/>
              </a:rPr>
              <a:t>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smtClean="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438150" indent="-285750" algn="just">
              <a:lnSpc>
                <a:spcPct val="150000"/>
              </a:lnSpc>
              <a:spcBef>
                <a:spcPts val="0"/>
              </a:spcBef>
            </a:pPr>
            <a:r>
              <a:rPr lang="en-US" sz="1600" dirty="0" smtClean="0">
                <a:latin typeface="Cambria" panose="02040503050406030204" pitchFamily="18" charset="0"/>
                <a:ea typeface="Cambria" panose="02040503050406030204" pitchFamily="18" charset="0"/>
              </a:rPr>
              <a:t>Frontend: HTML, CSS, JavaScript, React.js</a:t>
            </a:r>
          </a:p>
          <a:p>
            <a:pPr marL="438150" indent="-285750" algn="just">
              <a:lnSpc>
                <a:spcPct val="150000"/>
              </a:lnSpc>
              <a:spcBef>
                <a:spcPts val="0"/>
              </a:spcBef>
            </a:pPr>
            <a:r>
              <a:rPr lang="en-US" sz="1600" dirty="0" smtClean="0">
                <a:latin typeface="Cambria" panose="02040503050406030204" pitchFamily="18" charset="0"/>
                <a:ea typeface="Cambria" panose="02040503050406030204" pitchFamily="18" charset="0"/>
              </a:rPr>
              <a:t>Backend: Python (Flask)</a:t>
            </a:r>
          </a:p>
          <a:p>
            <a:pPr marL="438150" indent="-285750" algn="just">
              <a:lnSpc>
                <a:spcPct val="150000"/>
              </a:lnSpc>
              <a:spcBef>
                <a:spcPts val="0"/>
              </a:spcBef>
            </a:pPr>
            <a:r>
              <a:rPr lang="en-US" sz="1600" dirty="0" smtClean="0">
                <a:latin typeface="Cambria" panose="02040503050406030204" pitchFamily="18" charset="0"/>
                <a:ea typeface="Cambria" panose="02040503050406030204" pitchFamily="18" charset="0"/>
              </a:rPr>
              <a:t>Natural Language Processing (NLP): </a:t>
            </a:r>
            <a:r>
              <a:rPr lang="en-US" sz="1600" dirty="0" err="1" smtClean="0">
                <a:latin typeface="Cambria" panose="02040503050406030204" pitchFamily="18" charset="0"/>
                <a:ea typeface="Cambria" panose="02040503050406030204" pitchFamily="18" charset="0"/>
              </a:rPr>
              <a:t>spaCy</a:t>
            </a:r>
            <a:r>
              <a:rPr lang="en-US" sz="1600" dirty="0" smtClean="0">
                <a:latin typeface="Cambria" panose="02040503050406030204" pitchFamily="18" charset="0"/>
                <a:ea typeface="Cambria" panose="02040503050406030204" pitchFamily="18" charset="0"/>
              </a:rPr>
              <a:t>, Pandas, Regex</a:t>
            </a:r>
          </a:p>
          <a:p>
            <a:pPr marL="438150" indent="-285750" algn="just">
              <a:lnSpc>
                <a:spcPct val="150000"/>
              </a:lnSpc>
              <a:spcBef>
                <a:spcPts val="0"/>
              </a:spcBef>
            </a:pPr>
            <a:r>
              <a:rPr lang="en-US" sz="1600" dirty="0" smtClean="0">
                <a:latin typeface="Cambria" panose="02040503050406030204" pitchFamily="18" charset="0"/>
                <a:ea typeface="Cambria" panose="02040503050406030204" pitchFamily="18" charset="0"/>
              </a:rPr>
              <a:t>Data Visualization: </a:t>
            </a:r>
            <a:r>
              <a:rPr lang="en-US" sz="1600" dirty="0" err="1" smtClean="0">
                <a:latin typeface="Cambria" panose="02040503050406030204" pitchFamily="18" charset="0"/>
                <a:ea typeface="Cambria" panose="02040503050406030204" pitchFamily="18" charset="0"/>
              </a:rPr>
              <a:t>Plotly</a:t>
            </a:r>
            <a:r>
              <a:rPr lang="en-US" sz="1600" dirty="0" smtClean="0">
                <a:latin typeface="Cambria" panose="02040503050406030204" pitchFamily="18" charset="0"/>
                <a:ea typeface="Cambria" panose="02040503050406030204" pitchFamily="18" charset="0"/>
              </a:rPr>
              <a:t>/Dash</a:t>
            </a:r>
          </a:p>
          <a:p>
            <a:pPr marL="438150" indent="-285750" algn="just">
              <a:lnSpc>
                <a:spcPct val="150000"/>
              </a:lnSpc>
              <a:spcBef>
                <a:spcPts val="0"/>
              </a:spcBef>
            </a:pPr>
            <a:r>
              <a:rPr lang="en-US" sz="1600" dirty="0" smtClean="0">
                <a:latin typeface="Cambria" panose="02040503050406030204" pitchFamily="18" charset="0"/>
                <a:ea typeface="Cambria" panose="02040503050406030204" pitchFamily="18" charset="0"/>
              </a:rPr>
              <a:t>Database: </a:t>
            </a:r>
            <a:r>
              <a:rPr lang="en-US" sz="1600" dirty="0" err="1" smtClean="0">
                <a:latin typeface="Cambria" panose="02040503050406030204" pitchFamily="18" charset="0"/>
                <a:ea typeface="Cambria" panose="02040503050406030204" pitchFamily="18" charset="0"/>
              </a:rPr>
              <a:t>PostgreSQL</a:t>
            </a:r>
            <a:r>
              <a:rPr lang="en-US" sz="1600" dirty="0" smtClean="0">
                <a:latin typeface="Cambria" panose="02040503050406030204" pitchFamily="18" charset="0"/>
                <a:ea typeface="Cambria" panose="02040503050406030204" pitchFamily="18" charset="0"/>
              </a:rPr>
              <a:t> / MySQL</a:t>
            </a:r>
          </a:p>
          <a:p>
            <a:pPr marL="438150" indent="-285750" algn="just">
              <a:lnSpc>
                <a:spcPct val="150000"/>
              </a:lnSpc>
              <a:spcBef>
                <a:spcPts val="0"/>
              </a:spcBef>
            </a:pPr>
            <a:r>
              <a:rPr lang="en-US" sz="1600" dirty="0" smtClean="0">
                <a:latin typeface="Cambria" panose="02040503050406030204" pitchFamily="18" charset="0"/>
                <a:ea typeface="Cambria" panose="02040503050406030204" pitchFamily="18" charset="0"/>
              </a:rPr>
              <a:t>APIs &amp; Integration: Email Parsing (IMAP), SMS Simulation (</a:t>
            </a:r>
            <a:r>
              <a:rPr lang="en-US" sz="1600" dirty="0" err="1" smtClean="0">
                <a:latin typeface="Cambria" panose="02040503050406030204" pitchFamily="18" charset="0"/>
                <a:ea typeface="Cambria" panose="02040503050406030204" pitchFamily="18" charset="0"/>
              </a:rPr>
              <a:t>Twilio</a:t>
            </a:r>
            <a:r>
              <a:rPr lang="en-US" sz="1600" dirty="0" smtClean="0">
                <a:latin typeface="Cambria" panose="02040503050406030204" pitchFamily="18" charset="0"/>
                <a:ea typeface="Cambria" panose="02040503050406030204" pitchFamily="18" charset="0"/>
              </a:rPr>
              <a:t>)</a:t>
            </a:r>
          </a:p>
          <a:p>
            <a:pPr marL="438150" indent="-285750" algn="just">
              <a:lnSpc>
                <a:spcPct val="150000"/>
              </a:lnSpc>
              <a:spcBef>
                <a:spcPts val="0"/>
              </a:spcBef>
              <a:buSzPct val="100000"/>
            </a:pPr>
            <a:endParaRPr lang="en-US" sz="1600"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1600"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smtClean="0">
                <a:latin typeface="Cambria" panose="02040503050406030204" pitchFamily="18" charset="0"/>
                <a:ea typeface="Cambria" panose="02040503050406030204" pitchFamily="18" charset="0"/>
              </a:rPr>
              <a:t>Analysis </a:t>
            </a:r>
            <a:r>
              <a:rPr lang="en-US" dirty="0">
                <a:latin typeface="Cambria" panose="02040503050406030204" pitchFamily="18" charset="0"/>
                <a:ea typeface="Cambria" panose="02040503050406030204" pitchFamily="18" charset="0"/>
              </a:rPr>
              <a:t>of Problem </a:t>
            </a:r>
            <a:r>
              <a:rPr lang="en-US" dirty="0" smtClean="0">
                <a:latin typeface="Cambria" panose="02040503050406030204" pitchFamily="18" charset="0"/>
                <a:ea typeface="Cambria" panose="02040503050406030204" pitchFamily="18" charset="0"/>
              </a:rPr>
              <a:t>Statement </a:t>
            </a:r>
            <a:r>
              <a:rPr lang="en-US" sz="2000" dirty="0" smtClean="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rtl="0">
              <a:lnSpc>
                <a:spcPct val="200000"/>
              </a:lnSpc>
              <a:spcBef>
                <a:spcPts val="0"/>
              </a:spcBef>
              <a:spcAft>
                <a:spcPts val="0"/>
              </a:spcAft>
              <a:buClr>
                <a:schemeClr val="dk1"/>
              </a:buClr>
              <a:buSzPct val="100000"/>
              <a:buNone/>
            </a:pPr>
            <a:r>
              <a:rPr lang="en-US" dirty="0" smtClean="0">
                <a:latin typeface="Cambria" panose="02040503050406030204" pitchFamily="18" charset="0"/>
                <a:ea typeface="Cambria" panose="02040503050406030204" pitchFamily="18" charset="0"/>
              </a:rPr>
              <a:t>Software and Hardware Requirements: </a:t>
            </a:r>
            <a:endParaRPr lang="en-US" dirty="0" smtClean="0">
              <a:latin typeface="Cambria" panose="02040503050406030204" pitchFamily="18" charset="0"/>
              <a:ea typeface="Cambria" panose="02040503050406030204" pitchFamily="18" charset="0"/>
            </a:endParaRPr>
          </a:p>
          <a:p>
            <a:pPr marL="76200" indent="0">
              <a:lnSpc>
                <a:spcPct val="150000"/>
              </a:lnSpc>
              <a:buNone/>
            </a:pPr>
            <a:r>
              <a:rPr lang="en-IN" sz="1600" b="1" dirty="0" smtClean="0">
                <a:latin typeface="Cambria" panose="02040503050406030204" pitchFamily="18" charset="0"/>
                <a:ea typeface="Cambria" panose="02040503050406030204" pitchFamily="18" charset="0"/>
              </a:rPr>
              <a:t>         Hardware</a:t>
            </a:r>
            <a:r>
              <a:rPr lang="en-IN" sz="1600" dirty="0">
                <a:latin typeface="Cambria" panose="02040503050406030204" pitchFamily="18" charset="0"/>
                <a:ea typeface="Cambria" panose="02040503050406030204" pitchFamily="18" charset="0"/>
              </a:rPr>
              <a:t>:</a:t>
            </a:r>
          </a:p>
          <a:p>
            <a:pPr>
              <a:lnSpc>
                <a:spcPct val="150000"/>
              </a:lnSpc>
            </a:pPr>
            <a:r>
              <a:rPr lang="en-IN" sz="1600" dirty="0">
                <a:latin typeface="Cambria" panose="02040503050406030204" pitchFamily="18" charset="0"/>
                <a:ea typeface="Cambria" panose="02040503050406030204" pitchFamily="18" charset="0"/>
              </a:rPr>
              <a:t>Processor: Intel Core i3 / AMD </a:t>
            </a:r>
            <a:r>
              <a:rPr lang="en-IN" sz="1600" dirty="0" err="1">
                <a:latin typeface="Cambria" panose="02040503050406030204" pitchFamily="18" charset="0"/>
                <a:ea typeface="Cambria" panose="02040503050406030204" pitchFamily="18" charset="0"/>
              </a:rPr>
              <a:t>Ryzen</a:t>
            </a:r>
            <a:r>
              <a:rPr lang="en-IN" sz="1600" dirty="0">
                <a:latin typeface="Cambria" panose="02040503050406030204" pitchFamily="18" charset="0"/>
                <a:ea typeface="Cambria" panose="02040503050406030204" pitchFamily="18" charset="0"/>
              </a:rPr>
              <a:t> 3 or higher</a:t>
            </a:r>
          </a:p>
          <a:p>
            <a:pPr>
              <a:lnSpc>
                <a:spcPct val="150000"/>
              </a:lnSpc>
            </a:pPr>
            <a:r>
              <a:rPr lang="en-IN" sz="1600" dirty="0">
                <a:latin typeface="Cambria" panose="02040503050406030204" pitchFamily="18" charset="0"/>
                <a:ea typeface="Cambria" panose="02040503050406030204" pitchFamily="18" charset="0"/>
              </a:rPr>
              <a:t>RAM: 8 GB or more</a:t>
            </a:r>
          </a:p>
          <a:p>
            <a:pPr>
              <a:lnSpc>
                <a:spcPct val="150000"/>
              </a:lnSpc>
            </a:pPr>
            <a:r>
              <a:rPr lang="en-IN" sz="1600" dirty="0">
                <a:latin typeface="Cambria" panose="02040503050406030204" pitchFamily="18" charset="0"/>
                <a:ea typeface="Cambria" panose="02040503050406030204" pitchFamily="18" charset="0"/>
              </a:rPr>
              <a:t>Storage: 40 GB of free disk space</a:t>
            </a:r>
          </a:p>
          <a:p>
            <a:pPr marL="76200" indent="0">
              <a:lnSpc>
                <a:spcPct val="150000"/>
              </a:lnSpc>
              <a:buNone/>
            </a:pPr>
            <a:r>
              <a:rPr lang="en-IN" sz="1600" b="1" dirty="0">
                <a:latin typeface="Cambria" panose="02040503050406030204" pitchFamily="18" charset="0"/>
                <a:ea typeface="Cambria" panose="02040503050406030204" pitchFamily="18" charset="0"/>
              </a:rPr>
              <a:t>         Software</a:t>
            </a:r>
            <a:r>
              <a:rPr lang="en-IN" sz="1600" dirty="0">
                <a:latin typeface="Cambria" panose="02040503050406030204" pitchFamily="18" charset="0"/>
                <a:ea typeface="Cambria" panose="02040503050406030204" pitchFamily="18" charset="0"/>
              </a:rPr>
              <a:t>:</a:t>
            </a:r>
          </a:p>
          <a:p>
            <a:pPr>
              <a:lnSpc>
                <a:spcPct val="150000"/>
              </a:lnSpc>
            </a:pPr>
            <a:r>
              <a:rPr lang="en-IN" sz="1600" dirty="0">
                <a:latin typeface="Cambria" panose="02040503050406030204" pitchFamily="18" charset="0"/>
                <a:ea typeface="Cambria" panose="02040503050406030204" pitchFamily="18" charset="0"/>
              </a:rPr>
              <a:t>Operating System: Windows 10/11, </a:t>
            </a:r>
            <a:r>
              <a:rPr lang="en-IN" sz="1600" dirty="0" err="1">
                <a:latin typeface="Cambria" panose="02040503050406030204" pitchFamily="18" charset="0"/>
                <a:ea typeface="Cambria" panose="02040503050406030204" pitchFamily="18" charset="0"/>
              </a:rPr>
              <a:t>macOS</a:t>
            </a:r>
            <a:r>
              <a:rPr lang="en-IN" sz="1600" dirty="0">
                <a:latin typeface="Cambria" panose="02040503050406030204" pitchFamily="18" charset="0"/>
                <a:ea typeface="Cambria" panose="02040503050406030204" pitchFamily="18" charset="0"/>
              </a:rPr>
              <a:t>, or any Linux distribution</a:t>
            </a:r>
          </a:p>
          <a:p>
            <a:pPr>
              <a:lnSpc>
                <a:spcPct val="150000"/>
              </a:lnSpc>
            </a:pPr>
            <a:r>
              <a:rPr lang="en-IN" sz="1600" dirty="0">
                <a:latin typeface="Cambria" panose="02040503050406030204" pitchFamily="18" charset="0"/>
                <a:ea typeface="Cambria" panose="02040503050406030204" pitchFamily="18" charset="0"/>
              </a:rPr>
              <a:t>Backend Runtime: Python 3.8+Frontend Runtime: Node.js</a:t>
            </a:r>
          </a:p>
          <a:p>
            <a:pPr>
              <a:lnSpc>
                <a:spcPct val="150000"/>
              </a:lnSpc>
            </a:pPr>
            <a:r>
              <a:rPr lang="en-IN" sz="1600" dirty="0">
                <a:latin typeface="Cambria" panose="02040503050406030204" pitchFamily="18" charset="0"/>
                <a:ea typeface="Cambria" panose="02040503050406030204" pitchFamily="18" charset="0"/>
              </a:rPr>
              <a:t>Database Server: </a:t>
            </a:r>
            <a:r>
              <a:rPr lang="en-IN" sz="1600" dirty="0" err="1">
                <a:latin typeface="Cambria" panose="02040503050406030204" pitchFamily="18" charset="0"/>
                <a:ea typeface="Cambria" panose="02040503050406030204" pitchFamily="18" charset="0"/>
              </a:rPr>
              <a:t>PostgreSQL</a:t>
            </a:r>
            <a:r>
              <a:rPr lang="en-IN" sz="1600" dirty="0">
                <a:latin typeface="Cambria" panose="02040503050406030204" pitchFamily="18" charset="0"/>
                <a:ea typeface="Cambria" panose="02040503050406030204" pitchFamily="18" charset="0"/>
              </a:rPr>
              <a:t> or MySQL</a:t>
            </a:r>
          </a:p>
          <a:p>
            <a:pPr>
              <a:lnSpc>
                <a:spcPct val="150000"/>
              </a:lnSpc>
            </a:pPr>
            <a:r>
              <a:rPr lang="en-IN" sz="1600" dirty="0">
                <a:latin typeface="Cambria" panose="02040503050406030204" pitchFamily="18" charset="0"/>
                <a:ea typeface="Cambria" panose="02040503050406030204" pitchFamily="18" charset="0"/>
              </a:rPr>
              <a:t>Version Control: Git</a:t>
            </a:r>
          </a:p>
          <a:p>
            <a:pPr>
              <a:lnSpc>
                <a:spcPct val="150000"/>
              </a:lnSpc>
            </a:pPr>
            <a:r>
              <a:rPr lang="en-IN" sz="1600" dirty="0">
                <a:latin typeface="Cambria" panose="02040503050406030204" pitchFamily="18" charset="0"/>
                <a:ea typeface="Cambria" panose="02040503050406030204" pitchFamily="18" charset="0"/>
              </a:rPr>
              <a:t>IDE: VS Code or </a:t>
            </a:r>
            <a:r>
              <a:rPr lang="en-IN" sz="1600" dirty="0" err="1">
                <a:latin typeface="Cambria" panose="02040503050406030204" pitchFamily="18" charset="0"/>
                <a:ea typeface="Cambria" panose="02040503050406030204" pitchFamily="18" charset="0"/>
              </a:rPr>
              <a:t>PyCharm</a:t>
            </a:r>
            <a:endParaRPr lang="en-IN" sz="16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smtClean="0">
                <a:latin typeface="Cambria" panose="02040503050406030204" pitchFamily="18" charset="0"/>
                <a:ea typeface="Cambria" panose="02040503050406030204" pitchFamily="18" charset="0"/>
              </a:rPr>
              <a:t>Analysis </a:t>
            </a:r>
            <a:r>
              <a:rPr lang="en-US" dirty="0">
                <a:latin typeface="Cambria" panose="02040503050406030204" pitchFamily="18" charset="0"/>
                <a:ea typeface="Cambria" panose="02040503050406030204" pitchFamily="18" charset="0"/>
              </a:rPr>
              <a:t>of Problem </a:t>
            </a:r>
            <a:r>
              <a:rPr lang="en-US" dirty="0" smtClean="0">
                <a:latin typeface="Cambria" panose="02040503050406030204" pitchFamily="18" charset="0"/>
                <a:ea typeface="Cambria" panose="02040503050406030204" pitchFamily="18" charset="0"/>
              </a:rPr>
              <a:t>Statement </a:t>
            </a:r>
            <a:r>
              <a:rPr lang="en-US" sz="2000" dirty="0" smtClean="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Autofit/>
          </a:bodyPr>
          <a:lstStyle/>
          <a:p>
            <a:pPr marL="342900" lvl="0" indent="-190500" algn="just">
              <a:lnSpc>
                <a:spcPct val="170000"/>
              </a:lnSpc>
              <a:spcBef>
                <a:spcPts val="0"/>
              </a:spcBef>
              <a:buSzPct val="100000"/>
              <a:buNone/>
            </a:pPr>
            <a:r>
              <a:rPr lang="en-IN" sz="1600" dirty="0" smtClean="0">
                <a:latin typeface="Cambria" panose="02040503050406030204" pitchFamily="18" charset="0"/>
                <a:ea typeface="Cambria" panose="02040503050406030204" pitchFamily="18" charset="0"/>
              </a:rPr>
              <a:t> </a:t>
            </a:r>
            <a:r>
              <a:rPr lang="en-GB" sz="1600" b="1" dirty="0">
                <a:latin typeface="Cambria" panose="02040503050406030204" pitchFamily="18" charset="0"/>
                <a:ea typeface="Cambria" panose="02040503050406030204" pitchFamily="18" charset="0"/>
              </a:rPr>
              <a:t>The Core Issue</a:t>
            </a:r>
            <a:r>
              <a:rPr lang="en-GB" sz="1600" dirty="0">
                <a:latin typeface="Cambria" panose="02040503050406030204" pitchFamily="18" charset="0"/>
                <a:ea typeface="Cambria" panose="02040503050406030204" pitchFamily="18" charset="0"/>
              </a:rPr>
              <a:t>: The central process of manual expense tracking is fundamentally flawed. It is described as tedious, time-consuming, and error-prone. This immediately highlights a clear user frustration</a:t>
            </a:r>
            <a:r>
              <a:rPr lang="en-GB" sz="1600" dirty="0" smtClean="0">
                <a:latin typeface="Cambria" panose="02040503050406030204" pitchFamily="18" charset="0"/>
                <a:ea typeface="Cambria" panose="02040503050406030204" pitchFamily="18" charset="0"/>
              </a:rPr>
              <a:t>.</a:t>
            </a:r>
          </a:p>
          <a:p>
            <a:pPr marL="342900" lvl="0" indent="-190500" algn="just">
              <a:lnSpc>
                <a:spcPct val="170000"/>
              </a:lnSpc>
              <a:spcBef>
                <a:spcPts val="0"/>
              </a:spcBef>
              <a:buSzPct val="100000"/>
              <a:buNone/>
            </a:pPr>
            <a:r>
              <a:rPr lang="en-GB" sz="1600" b="1" dirty="0" smtClean="0">
                <a:latin typeface="Cambria" panose="02040503050406030204" pitchFamily="18" charset="0"/>
                <a:ea typeface="Cambria" panose="02040503050406030204" pitchFamily="18" charset="0"/>
              </a:rPr>
              <a:t>The </a:t>
            </a:r>
            <a:r>
              <a:rPr lang="en-GB" sz="1600" b="1" dirty="0">
                <a:latin typeface="Cambria" panose="02040503050406030204" pitchFamily="18" charset="0"/>
                <a:ea typeface="Cambria" panose="02040503050406030204" pitchFamily="18" charset="0"/>
              </a:rPr>
              <a:t>Root Cause</a:t>
            </a:r>
            <a:r>
              <a:rPr lang="en-GB" sz="1600" dirty="0">
                <a:latin typeface="Cambria" panose="02040503050406030204" pitchFamily="18" charset="0"/>
                <a:ea typeface="Cambria" panose="02040503050406030204" pitchFamily="18" charset="0"/>
              </a:rPr>
              <a:t>: The problem originates from data that is unstructured and scattered. By specifying the sources as "bank SMS alerts and email notifications," you pinpoint the exact technical challenge: processing inconsistent, messy text data</a:t>
            </a:r>
            <a:r>
              <a:rPr lang="en-GB" sz="1600" dirty="0" smtClean="0">
                <a:latin typeface="Cambria" panose="02040503050406030204" pitchFamily="18" charset="0"/>
                <a:ea typeface="Cambria" panose="02040503050406030204" pitchFamily="18" charset="0"/>
              </a:rPr>
              <a:t>.</a:t>
            </a:r>
          </a:p>
          <a:p>
            <a:pPr marL="342900" lvl="0" indent="-190500" algn="just">
              <a:lnSpc>
                <a:spcPct val="170000"/>
              </a:lnSpc>
              <a:spcBef>
                <a:spcPts val="0"/>
              </a:spcBef>
              <a:buSzPct val="100000"/>
              <a:buNone/>
            </a:pPr>
            <a:r>
              <a:rPr lang="en-GB" sz="1600" b="1" dirty="0" smtClean="0">
                <a:latin typeface="Cambria" panose="02040503050406030204" pitchFamily="18" charset="0"/>
                <a:ea typeface="Cambria" panose="02040503050406030204" pitchFamily="18" charset="0"/>
              </a:rPr>
              <a:t>The </a:t>
            </a:r>
            <a:r>
              <a:rPr lang="en-GB" sz="1600" b="1" dirty="0">
                <a:latin typeface="Cambria" panose="02040503050406030204" pitchFamily="18" charset="0"/>
                <a:ea typeface="Cambria" panose="02040503050406030204" pitchFamily="18" charset="0"/>
              </a:rPr>
              <a:t>Negative Consequences</a:t>
            </a:r>
            <a:r>
              <a:rPr lang="en-GB" sz="1600" dirty="0">
                <a:latin typeface="Cambria" panose="02040503050406030204" pitchFamily="18" charset="0"/>
                <a:ea typeface="Cambria" panose="02040503050406030204" pitchFamily="18" charset="0"/>
              </a:rPr>
              <a:t>: This is the most crucial part, as it details the real-world impact of the problem. A lack of automated analysis leads to</a:t>
            </a:r>
            <a:r>
              <a:rPr lang="en-GB" sz="1600" dirty="0" smtClean="0">
                <a:latin typeface="Cambria" panose="02040503050406030204" pitchFamily="18" charset="0"/>
                <a:ea typeface="Cambria" panose="02040503050406030204" pitchFamily="18" charset="0"/>
              </a:rPr>
              <a:t>:</a:t>
            </a:r>
          </a:p>
          <a:p>
            <a:pPr marL="438150" indent="-285750" algn="just">
              <a:lnSpc>
                <a:spcPct val="170000"/>
              </a:lnSpc>
              <a:spcBef>
                <a:spcPts val="0"/>
              </a:spcBef>
              <a:buSzPct val="100000"/>
            </a:pPr>
            <a:r>
              <a:rPr lang="en-GB" sz="1600" dirty="0" smtClean="0">
                <a:latin typeface="Cambria" panose="02040503050406030204" pitchFamily="18" charset="0"/>
                <a:ea typeface="Cambria" panose="02040503050406030204" pitchFamily="18" charset="0"/>
              </a:rPr>
              <a:t>An </a:t>
            </a:r>
            <a:r>
              <a:rPr lang="en-GB" sz="1600" dirty="0">
                <a:latin typeface="Cambria" panose="02040503050406030204" pitchFamily="18" charset="0"/>
                <a:ea typeface="Cambria" panose="02040503050406030204" pitchFamily="18" charset="0"/>
              </a:rPr>
              <a:t>inability to gain clear, real-time </a:t>
            </a:r>
            <a:r>
              <a:rPr lang="en-GB" sz="1600" dirty="0" smtClean="0">
                <a:latin typeface="Cambria" panose="02040503050406030204" pitchFamily="18" charset="0"/>
                <a:ea typeface="Cambria" panose="02040503050406030204" pitchFamily="18" charset="0"/>
              </a:rPr>
              <a:t>insights.</a:t>
            </a:r>
          </a:p>
          <a:p>
            <a:pPr marL="438150" indent="-285750" algn="just">
              <a:lnSpc>
                <a:spcPct val="170000"/>
              </a:lnSpc>
              <a:spcBef>
                <a:spcPts val="0"/>
              </a:spcBef>
              <a:buSzPct val="100000"/>
            </a:pPr>
            <a:r>
              <a:rPr lang="en-GB" sz="1600" dirty="0" smtClean="0">
                <a:latin typeface="Cambria" panose="02040503050406030204" pitchFamily="18" charset="0"/>
                <a:ea typeface="Cambria" panose="02040503050406030204" pitchFamily="18" charset="0"/>
              </a:rPr>
              <a:t>Ineffective </a:t>
            </a:r>
            <a:r>
              <a:rPr lang="en-GB" sz="1600" dirty="0">
                <a:latin typeface="Cambria" panose="02040503050406030204" pitchFamily="18" charset="0"/>
                <a:ea typeface="Cambria" panose="02040503050406030204" pitchFamily="18" charset="0"/>
              </a:rPr>
              <a:t>budgeting</a:t>
            </a:r>
            <a:r>
              <a:rPr lang="en-GB" sz="1600" dirty="0" smtClean="0">
                <a:latin typeface="Cambria" panose="02040503050406030204" pitchFamily="18" charset="0"/>
                <a:ea typeface="Cambria" panose="02040503050406030204" pitchFamily="18" charset="0"/>
              </a:rPr>
              <a:t>.</a:t>
            </a:r>
          </a:p>
          <a:p>
            <a:pPr marL="438150" indent="-285750" algn="just">
              <a:lnSpc>
                <a:spcPct val="170000"/>
              </a:lnSpc>
              <a:spcBef>
                <a:spcPts val="0"/>
              </a:spcBef>
              <a:buSzPct val="100000"/>
            </a:pPr>
            <a:r>
              <a:rPr lang="en-GB" sz="1600" dirty="0" smtClean="0">
                <a:latin typeface="Cambria" panose="02040503050406030204" pitchFamily="18" charset="0"/>
                <a:ea typeface="Cambria" panose="02040503050406030204" pitchFamily="18" charset="0"/>
              </a:rPr>
              <a:t>Failure </a:t>
            </a:r>
            <a:r>
              <a:rPr lang="en-GB" sz="1600" dirty="0">
                <a:latin typeface="Cambria" panose="02040503050406030204" pitchFamily="18" charset="0"/>
                <a:ea typeface="Cambria" panose="02040503050406030204" pitchFamily="18" charset="0"/>
              </a:rPr>
              <a:t>to identify wasteful spending</a:t>
            </a:r>
            <a:r>
              <a:rPr lang="en-GB" sz="1600" dirty="0" smtClean="0">
                <a:latin typeface="Cambria" panose="02040503050406030204" pitchFamily="18" charset="0"/>
                <a:ea typeface="Cambria" panose="02040503050406030204" pitchFamily="18" charset="0"/>
              </a:rPr>
              <a:t>.</a:t>
            </a:r>
          </a:p>
          <a:p>
            <a:pPr marL="438150" indent="-285750" algn="just">
              <a:lnSpc>
                <a:spcPct val="170000"/>
              </a:lnSpc>
              <a:spcBef>
                <a:spcPts val="0"/>
              </a:spcBef>
              <a:buSzPct val="100000"/>
            </a:pPr>
            <a:r>
              <a:rPr lang="en-GB" sz="1600" dirty="0" smtClean="0">
                <a:latin typeface="Cambria" panose="02040503050406030204" pitchFamily="18" charset="0"/>
                <a:ea typeface="Cambria" panose="02040503050406030204" pitchFamily="18" charset="0"/>
              </a:rPr>
              <a:t>Poor </a:t>
            </a:r>
            <a:r>
              <a:rPr lang="en-GB" sz="1600" dirty="0">
                <a:latin typeface="Cambria" panose="02040503050406030204" pitchFamily="18" charset="0"/>
                <a:ea typeface="Cambria" panose="02040503050406030204" pitchFamily="18" charset="0"/>
              </a:rPr>
              <a:t>financial discipline and missed savings opportunities</a:t>
            </a:r>
            <a:r>
              <a:rPr lang="en-GB" sz="1600" dirty="0" smtClean="0">
                <a:latin typeface="Cambria" panose="02040503050406030204" pitchFamily="18" charset="0"/>
                <a:ea typeface="Cambria" panose="02040503050406030204" pitchFamily="18" charset="0"/>
              </a:rPr>
              <a:t>.</a:t>
            </a:r>
          </a:p>
          <a:p>
            <a:pPr marL="495300" indent="-342900" algn="just">
              <a:lnSpc>
                <a:spcPct val="170000"/>
              </a:lnSpc>
              <a:spcBef>
                <a:spcPts val="0"/>
              </a:spcBef>
              <a:buSzPct val="100000"/>
            </a:pPr>
            <a:endParaRPr lang="en-GB" sz="1600" dirty="0" smtClean="0">
              <a:latin typeface="Cambria" panose="02040503050406030204" pitchFamily="18" charset="0"/>
              <a:ea typeface="Cambria" panose="02040503050406030204" pitchFamily="18" charset="0"/>
            </a:endParaRPr>
          </a:p>
          <a:p>
            <a:pPr marL="495300" indent="-342900" algn="just">
              <a:lnSpc>
                <a:spcPct val="170000"/>
              </a:lnSpc>
              <a:spcBef>
                <a:spcPts val="0"/>
              </a:spcBef>
              <a:buSzPct val="100000"/>
            </a:pPr>
            <a:endParaRPr lang="en-GB" sz="1400" dirty="0">
              <a:latin typeface="Cambria" panose="02040503050406030204" pitchFamily="18" charset="0"/>
              <a:ea typeface="Cambria" panose="02040503050406030204" pitchFamily="18" charset="0"/>
            </a:endParaRPr>
          </a:p>
          <a:p>
            <a:pPr marL="495300" indent="-342900" algn="just">
              <a:lnSpc>
                <a:spcPct val="170000"/>
              </a:lnSpc>
              <a:spcBef>
                <a:spcPts val="0"/>
              </a:spcBef>
              <a:buSzPct val="100000"/>
            </a:pPr>
            <a:endParaRPr lang="en-GB" sz="1400" dirty="0" smtClean="0">
              <a:latin typeface="Cambria" panose="02040503050406030204" pitchFamily="18" charset="0"/>
              <a:ea typeface="Cambria" panose="02040503050406030204" pitchFamily="18" charset="0"/>
            </a:endParaRPr>
          </a:p>
          <a:p>
            <a:pPr marL="495300" indent="-342900" algn="just">
              <a:lnSpc>
                <a:spcPct val="170000"/>
              </a:lnSpc>
              <a:spcBef>
                <a:spcPts val="0"/>
              </a:spcBef>
              <a:buSzPct val="100000"/>
            </a:pPr>
            <a:endParaRPr lang="en-GB" sz="1400" dirty="0">
              <a:latin typeface="Cambria" panose="02040503050406030204" pitchFamily="18" charset="0"/>
              <a:ea typeface="Cambria" panose="02040503050406030204" pitchFamily="18" charset="0"/>
            </a:endParaRPr>
          </a:p>
          <a:p>
            <a:pPr marL="495300" indent="-342900" algn="just">
              <a:lnSpc>
                <a:spcPct val="170000"/>
              </a:lnSpc>
              <a:spcBef>
                <a:spcPts val="0"/>
              </a:spcBef>
              <a:buSzPct val="100000"/>
            </a:pPr>
            <a:endParaRPr lang="en-GB" sz="1400" dirty="0" smtClean="0">
              <a:latin typeface="Cambria" panose="02040503050406030204" pitchFamily="18" charset="0"/>
              <a:ea typeface="Cambria" panose="02040503050406030204" pitchFamily="18" charset="0"/>
            </a:endParaRPr>
          </a:p>
          <a:p>
            <a:pPr marL="342900" lvl="0" indent="-190500" algn="just">
              <a:lnSpc>
                <a:spcPct val="170000"/>
              </a:lnSpc>
              <a:spcBef>
                <a:spcPts val="0"/>
              </a:spcBef>
              <a:buSzPct val="100000"/>
              <a:buNone/>
            </a:pPr>
            <a:endParaRPr sz="1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03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IN" dirty="0"/>
          </a:p>
        </p:txBody>
      </p:sp>
      <p:sp>
        <p:nvSpPr>
          <p:cNvPr id="3" name="Text Placeholder 2"/>
          <p:cNvSpPr>
            <a:spLocks noGrp="1"/>
          </p:cNvSpPr>
          <p:nvPr>
            <p:ph type="body" idx="1"/>
          </p:nvPr>
        </p:nvSpPr>
        <p:spPr/>
        <p:txBody>
          <a:bodyPr>
            <a:normAutofit/>
          </a:bodyPr>
          <a:lstStyle/>
          <a:p>
            <a:pPr marL="76200" indent="0">
              <a:lnSpc>
                <a:spcPct val="150000"/>
              </a:lnSpc>
              <a:buNone/>
            </a:pPr>
            <a:r>
              <a:rPr lang="en-GB" sz="1600" dirty="0">
                <a:latin typeface="Cambria" panose="02040503050406030204" pitchFamily="18" charset="0"/>
                <a:ea typeface="Cambria" panose="02040503050406030204" pitchFamily="18" charset="0"/>
              </a:rPr>
              <a:t>P</a:t>
            </a:r>
            <a:r>
              <a:rPr lang="en-GB" sz="1600" dirty="0" smtClean="0">
                <a:latin typeface="Cambria" panose="02040503050406030204" pitchFamily="18" charset="0"/>
                <a:ea typeface="Cambria" panose="02040503050406030204" pitchFamily="18" charset="0"/>
              </a:rPr>
              <a:t>roblem </a:t>
            </a:r>
            <a:r>
              <a:rPr lang="en-GB" sz="1600" dirty="0">
                <a:latin typeface="Cambria" panose="02040503050406030204" pitchFamily="18" charset="0"/>
                <a:ea typeface="Cambria" panose="02040503050406030204" pitchFamily="18" charset="0"/>
              </a:rPr>
              <a:t>statement directly justifies a project with features such as</a:t>
            </a:r>
            <a:r>
              <a:rPr lang="en-GB" sz="1600" dirty="0" smtClean="0">
                <a:latin typeface="Cambria" panose="02040503050406030204" pitchFamily="18" charset="0"/>
                <a:ea typeface="Cambria" panose="02040503050406030204" pitchFamily="18" charset="0"/>
              </a:rPr>
              <a:t>:</a:t>
            </a:r>
          </a:p>
          <a:p>
            <a:pPr>
              <a:lnSpc>
                <a:spcPct val="150000"/>
              </a:lnSpc>
            </a:pPr>
            <a:r>
              <a:rPr lang="en-GB" sz="1600" dirty="0" smtClean="0">
                <a:latin typeface="Cambria" panose="02040503050406030204" pitchFamily="18" charset="0"/>
                <a:ea typeface="Cambria" panose="02040503050406030204" pitchFamily="18" charset="0"/>
              </a:rPr>
              <a:t>Automated </a:t>
            </a:r>
            <a:r>
              <a:rPr lang="en-GB" sz="1600" dirty="0">
                <a:latin typeface="Cambria" panose="02040503050406030204" pitchFamily="18" charset="0"/>
                <a:ea typeface="Cambria" panose="02040503050406030204" pitchFamily="18" charset="0"/>
              </a:rPr>
              <a:t>Data Extraction to solve the "tedious" and "time-consuming" nature of the </a:t>
            </a:r>
            <a:r>
              <a:rPr lang="en-GB" sz="1600" dirty="0" smtClean="0">
                <a:latin typeface="Cambria" panose="02040503050406030204" pitchFamily="18" charset="0"/>
                <a:ea typeface="Cambria" panose="02040503050406030204" pitchFamily="18" charset="0"/>
              </a:rPr>
              <a:t>task. A </a:t>
            </a:r>
            <a:r>
              <a:rPr lang="en-GB" sz="1600" dirty="0">
                <a:latin typeface="Cambria" panose="02040503050406030204" pitchFamily="18" charset="0"/>
                <a:ea typeface="Cambria" panose="02040503050406030204" pitchFamily="18" charset="0"/>
              </a:rPr>
              <a:t>custom NLP engine to handle the "unstructured and scattered" data from various sources</a:t>
            </a:r>
            <a:r>
              <a:rPr lang="en-GB" sz="1600" dirty="0" smtClean="0">
                <a:latin typeface="Cambria" panose="02040503050406030204" pitchFamily="18" charset="0"/>
                <a:ea typeface="Cambria" panose="02040503050406030204" pitchFamily="18" charset="0"/>
              </a:rPr>
              <a:t>.</a:t>
            </a:r>
          </a:p>
          <a:p>
            <a:pPr>
              <a:lnSpc>
                <a:spcPct val="150000"/>
              </a:lnSpc>
            </a:pPr>
            <a:r>
              <a:rPr lang="en-GB" sz="1600" dirty="0" smtClean="0">
                <a:latin typeface="Cambria" panose="02040503050406030204" pitchFamily="18" charset="0"/>
                <a:ea typeface="Cambria" panose="02040503050406030204" pitchFamily="18" charset="0"/>
              </a:rPr>
              <a:t>An </a:t>
            </a:r>
            <a:r>
              <a:rPr lang="en-GB" sz="1600" dirty="0">
                <a:latin typeface="Cambria" panose="02040503050406030204" pitchFamily="18" charset="0"/>
                <a:ea typeface="Cambria" panose="02040503050406030204" pitchFamily="18" charset="0"/>
              </a:rPr>
              <a:t>interactive dashboard to address the "lack of clear, real-time insights</a:t>
            </a:r>
            <a:r>
              <a:rPr lang="en-GB" sz="1600" dirty="0" smtClean="0">
                <a:latin typeface="Cambria" panose="02040503050406030204" pitchFamily="18" charset="0"/>
                <a:ea typeface="Cambria" panose="02040503050406030204" pitchFamily="18" charset="0"/>
              </a:rPr>
              <a:t>.</a:t>
            </a:r>
          </a:p>
          <a:p>
            <a:pPr>
              <a:lnSpc>
                <a:spcPct val="150000"/>
              </a:lnSpc>
            </a:pPr>
            <a:r>
              <a:rPr lang="en-GB" sz="1600" dirty="0" smtClean="0">
                <a:latin typeface="Cambria" panose="02040503050406030204" pitchFamily="18" charset="0"/>
                <a:ea typeface="Cambria" panose="02040503050406030204" pitchFamily="18" charset="0"/>
              </a:rPr>
              <a:t>"</a:t>
            </a:r>
            <a:r>
              <a:rPr lang="en-GB" sz="1600" dirty="0">
                <a:latin typeface="Cambria" panose="02040503050406030204" pitchFamily="18" charset="0"/>
                <a:ea typeface="Cambria" panose="02040503050406030204" pitchFamily="18" charset="0"/>
              </a:rPr>
              <a:t>Savings recommendations to combat "poor financial discipline and missed savings opportunities."</a:t>
            </a:r>
            <a:endParaRPr lang="en-IN"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200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Innovation or Novel Contributions</a:t>
            </a:r>
            <a:endParaRPr lang="en-US" sz="3600"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62500" lnSpcReduction="20000"/>
          </a:bodyPr>
          <a:lstStyle/>
          <a:p>
            <a:pPr marL="76200" indent="0">
              <a:lnSpc>
                <a:spcPct val="170000"/>
              </a:lnSpc>
              <a:buNone/>
            </a:pPr>
            <a:r>
              <a:rPr lang="en-GB" sz="2600" dirty="0" smtClean="0">
                <a:latin typeface="Cambria" panose="02040503050406030204" pitchFamily="18" charset="0"/>
                <a:ea typeface="Cambria" panose="02040503050406030204" pitchFamily="18" charset="0"/>
              </a:rPr>
              <a:t>The </a:t>
            </a:r>
            <a:r>
              <a:rPr lang="en-GB" sz="2600" dirty="0">
                <a:latin typeface="Cambria" panose="02040503050406030204" pitchFamily="18" charset="0"/>
                <a:ea typeface="Cambria" panose="02040503050406030204" pitchFamily="18" charset="0"/>
              </a:rPr>
              <a:t>innovation of this project lies in the synergistic integration of several key technologies to create a practical and user-centric solution.</a:t>
            </a:r>
          </a:p>
          <a:p>
            <a:pPr>
              <a:lnSpc>
                <a:spcPct val="170000"/>
              </a:lnSpc>
            </a:pPr>
            <a:r>
              <a:rPr lang="en-GB" sz="2600" dirty="0">
                <a:latin typeface="Cambria" panose="02040503050406030204" pitchFamily="18" charset="0"/>
                <a:ea typeface="Cambria" panose="02040503050406030204" pitchFamily="18" charset="0"/>
              </a:rPr>
              <a:t>Custom-Trained NLP for Financial Texts: Instead of relying on generic parsing rules, this project will develop a custom-trained </a:t>
            </a:r>
            <a:r>
              <a:rPr lang="en-GB" sz="2600" dirty="0" err="1">
                <a:latin typeface="Cambria" panose="02040503050406030204" pitchFamily="18" charset="0"/>
                <a:ea typeface="Cambria" panose="02040503050406030204" pitchFamily="18" charset="0"/>
              </a:rPr>
              <a:t>spaCy</a:t>
            </a:r>
            <a:r>
              <a:rPr lang="en-GB" sz="2600" dirty="0">
                <a:latin typeface="Cambria" panose="02040503050406030204" pitchFamily="18" charset="0"/>
                <a:ea typeface="Cambria" panose="02040503050406030204" pitchFamily="18" charset="0"/>
              </a:rPr>
              <a:t> NER model. This model will be specifically designed to handle the diverse and often inconsistent formats of SMS and email alerts from various Indian financial institutions, offering higher accuracy in data extraction.</a:t>
            </a:r>
          </a:p>
          <a:p>
            <a:pPr>
              <a:lnSpc>
                <a:spcPct val="170000"/>
              </a:lnSpc>
            </a:pPr>
            <a:r>
              <a:rPr lang="en-GB" sz="2600" dirty="0">
                <a:latin typeface="Cambria" panose="02040503050406030204" pitchFamily="18" charset="0"/>
                <a:ea typeface="Cambria" panose="02040503050406030204" pitchFamily="18" charset="0"/>
              </a:rPr>
              <a:t>Automated End-to-End Financial Feedback Loop: The system creates a complete cycle: it automatically ingests raw data, transforms it into structured insights, visualizes these insights for the user, and then uses the analysis to provide personalized, actionable savings recommendations, directly helping users modify their financial </a:t>
            </a:r>
            <a:r>
              <a:rPr lang="en-GB" sz="2600" dirty="0" err="1">
                <a:latin typeface="Cambria" panose="02040503050406030204" pitchFamily="18" charset="0"/>
                <a:ea typeface="Cambria" panose="02040503050406030204" pitchFamily="18" charset="0"/>
              </a:rPr>
              <a:t>behavior</a:t>
            </a:r>
            <a:r>
              <a:rPr lang="en-GB" sz="2600" dirty="0">
                <a:latin typeface="Cambria" panose="02040503050406030204" pitchFamily="18" charset="0"/>
                <a:ea typeface="Cambria" panose="02040503050406030204" pitchFamily="18" charset="0"/>
              </a:rPr>
              <a:t>.</a:t>
            </a:r>
          </a:p>
          <a:p>
            <a:pPr>
              <a:lnSpc>
                <a:spcPct val="170000"/>
              </a:lnSpc>
            </a:pPr>
            <a:r>
              <a:rPr lang="en-GB" sz="2600" dirty="0">
                <a:latin typeface="Cambria" panose="02040503050406030204" pitchFamily="18" charset="0"/>
                <a:ea typeface="Cambria" panose="02040503050406030204" pitchFamily="18" charset="0"/>
              </a:rPr>
              <a:t>Secure, User-Controlled Open-Source Platform: Unlike many commercial alternatives that require direct access to bank accounts, this model operates on user-provided data (via file uploads or email integration), giving users more control and security. By building it with an open-source stack, it provides a transparent and adaptable framework.</a:t>
            </a:r>
            <a:endParaRPr lang="en-IN" sz="2600" dirty="0">
              <a:latin typeface="Cambria" panose="02040503050406030204" pitchFamily="18" charset="0"/>
              <a:ea typeface="Cambria" panose="02040503050406030204" pitchFamily="18" charset="0"/>
            </a:endParaRPr>
          </a:p>
          <a:p>
            <a:pPr marL="342900" lvl="0" indent="-190500" algn="just" rtl="0">
              <a:lnSpc>
                <a:spcPct val="170000"/>
              </a:lnSpc>
              <a:spcBef>
                <a:spcPts val="0"/>
              </a:spcBef>
              <a:spcAft>
                <a:spcPts val="0"/>
              </a:spcAft>
              <a:buClr>
                <a:schemeClr val="dk1"/>
              </a:buClr>
              <a:buSzPct val="100000"/>
              <a:buNone/>
            </a:pPr>
            <a:endParaRPr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smtClean="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a:latin typeface="Cambria" panose="02040503050406030204" pitchFamily="18" charset="0"/>
                <a:ea typeface="Cambria" panose="02040503050406030204" pitchFamily="18" charset="0"/>
              </a:rPr>
              <a:t>https://github.com/Uniqueidentity10100/AI-based-smart-finance-Automator</a:t>
            </a:r>
          </a:p>
          <a:p>
            <a:pPr marL="342900" indent="-190500" algn="just">
              <a:lnSpc>
                <a:spcPct val="200000"/>
              </a:lnSpc>
              <a:spcBef>
                <a:spcPts val="0"/>
              </a:spcBef>
              <a:buSzPct val="100000"/>
              <a:buNone/>
            </a:pPr>
            <a:endParaRPr lang="en-US">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a:t>
            </a:r>
            <a:r>
              <a:rPr lang="en-IN" dirty="0" smtClean="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1537"/>
            <a:ext cx="12192000" cy="511492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a:t>
            </a:r>
            <a:r>
              <a:rPr lang="en-GB" dirty="0" smtClean="0">
                <a:latin typeface="Cambria" panose="02040503050406030204" pitchFamily="18" charset="0"/>
                <a:ea typeface="Cambria" panose="02040503050406030204" pitchFamily="18" charset="0"/>
              </a:rPr>
              <a:t>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smtClean="0">
              <a:latin typeface="Cambria" panose="02040503050406030204" pitchFamily="18" charset="0"/>
              <a:ea typeface="Cambria" panose="02040503050406030204" pitchFamily="18" charset="0"/>
            </a:endParaRPr>
          </a:p>
          <a:p>
            <a:pPr marL="152400" indent="0">
              <a:lnSpc>
                <a:spcPct val="150000"/>
              </a:lnSpc>
              <a:spcBef>
                <a:spcPts val="0"/>
              </a:spcBef>
              <a:buNone/>
            </a:pPr>
            <a:r>
              <a:rPr lang="en-US" sz="1600" dirty="0">
                <a:latin typeface="Cambria" panose="02040503050406030204" pitchFamily="18" charset="0"/>
                <a:ea typeface="Cambria" panose="02040503050406030204" pitchFamily="18" charset="0"/>
              </a:rPr>
              <a:t>[1] https://www.researchgate.net/publication/381563265_An_AI-Powered_Personal_Finance_Assistant_Enhancing_Financial_Literacy_and_Management?__cf_chl_tk=Ivfyow_XqRGgc5ZNHOgukP5mkhwtnBt52vVgjEr53ic-1755024354-1.0.1.1-Yv9ogT01kzmUX3ekTvu8EAi6YWy_LRyc6f6._</a:t>
            </a:r>
            <a:r>
              <a:rPr lang="en-US" sz="1600" dirty="0" smtClean="0">
                <a:latin typeface="Cambria" panose="02040503050406030204" pitchFamily="18" charset="0"/>
                <a:ea typeface="Cambria" panose="02040503050406030204" pitchFamily="18" charset="0"/>
              </a:rPr>
              <a:t>H78oU0</a:t>
            </a:r>
          </a:p>
          <a:p>
            <a:pPr marL="152400" indent="0">
              <a:lnSpc>
                <a:spcPct val="150000"/>
              </a:lnSpc>
              <a:spcBef>
                <a:spcPts val="0"/>
              </a:spcBef>
              <a:buNone/>
            </a:pPr>
            <a:r>
              <a:rPr lang="en-US" sz="1600" dirty="0" smtClean="0">
                <a:latin typeface="Cambria" panose="02040503050406030204" pitchFamily="18" charset="0"/>
                <a:ea typeface="Cambria" panose="02040503050406030204" pitchFamily="18" charset="0"/>
              </a:rPr>
              <a:t>[</a:t>
            </a:r>
            <a:r>
              <a:rPr lang="en-US" sz="1600" dirty="0">
                <a:latin typeface="Cambria" panose="02040503050406030204" pitchFamily="18" charset="0"/>
                <a:ea typeface="Cambria" panose="02040503050406030204" pitchFamily="18" charset="0"/>
              </a:rPr>
              <a:t>2] </a:t>
            </a:r>
            <a:r>
              <a:rPr lang="en-US" sz="1600" dirty="0">
                <a:latin typeface="Cambria" panose="02040503050406030204" pitchFamily="18" charset="0"/>
                <a:ea typeface="Cambria" panose="02040503050406030204" pitchFamily="18" charset="0"/>
                <a:hlinkClick r:id="rId3"/>
              </a:rPr>
              <a:t>https://</a:t>
            </a:r>
            <a:r>
              <a:rPr lang="en-US" sz="1600" dirty="0" smtClean="0">
                <a:latin typeface="Cambria" panose="02040503050406030204" pitchFamily="18" charset="0"/>
                <a:ea typeface="Cambria" panose="02040503050406030204" pitchFamily="18" charset="0"/>
                <a:hlinkClick r:id="rId3"/>
              </a:rPr>
              <a:t>www.iosrjournals.org/iosr-jce/papers/Vol27-issue1/Ser-1/B2701010717.pdf</a:t>
            </a:r>
            <a:endParaRPr lang="en-US" sz="1600" dirty="0" smtClean="0">
              <a:latin typeface="Cambria" panose="02040503050406030204" pitchFamily="18" charset="0"/>
              <a:ea typeface="Cambria" panose="02040503050406030204" pitchFamily="18" charset="0"/>
            </a:endParaRPr>
          </a:p>
          <a:p>
            <a:pPr marL="152400" indent="0">
              <a:lnSpc>
                <a:spcPct val="150000"/>
              </a:lnSpc>
              <a:spcBef>
                <a:spcPts val="0"/>
              </a:spcBef>
              <a:buNone/>
            </a:pPr>
            <a:r>
              <a:rPr lang="en-US" sz="1600" dirty="0">
                <a:latin typeface="Cambria" panose="02040503050406030204" pitchFamily="18" charset="0"/>
                <a:ea typeface="Cambria" panose="02040503050406030204" pitchFamily="18" charset="0"/>
              </a:rPr>
              <a:t>[3] https://www.scitepress.org/Papers/2023/126139/126139.pdf</a:t>
            </a:r>
            <a:endParaRPr lang="en-US" sz="1600" dirty="0">
              <a:latin typeface="Cambria" panose="02040503050406030204" pitchFamily="18" charset="0"/>
              <a:ea typeface="Cambria" panose="02040503050406030204" pitchFamily="18" charset="0"/>
            </a:endParaRPr>
          </a:p>
          <a:p>
            <a:pPr marL="152400" indent="0">
              <a:lnSpc>
                <a:spcPct val="150000"/>
              </a:lnSpc>
              <a:spcBef>
                <a:spcPts val="0"/>
              </a:spcBef>
              <a:buNone/>
            </a:pPr>
            <a:endParaRPr sz="1600" dirty="0">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xmlns=""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344</TotalTime>
  <Words>1196</Words>
  <Application>Microsoft Office PowerPoint</Application>
  <PresentationFormat>Widescreen</PresentationFormat>
  <Paragraphs>109</Paragraphs>
  <Slides>14</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Bookman Old Style</vt:lpstr>
      <vt:lpstr>Calibri</vt:lpstr>
      <vt:lpstr>Cambria</vt:lpstr>
      <vt:lpstr>Verdana</vt:lpstr>
      <vt:lpstr>Bioinformatics</vt:lpstr>
      <vt:lpstr>SMART PERSONAL FINANCE AUTOMATOR</vt:lpstr>
      <vt:lpstr>Problem Statement Number: PSCS_154</vt:lpstr>
      <vt:lpstr>Content</vt:lpstr>
      <vt:lpstr>Content (continuation)..</vt:lpstr>
      <vt:lpstr>Content (continuation)..</vt:lpstr>
      <vt:lpstr>Analysis of Problem Statement</vt:lpstr>
      <vt:lpstr>Analysis of Problem Statement (contd...)</vt:lpstr>
      <vt:lpstr>Analysis of Problem Statement (contd...)</vt:lpstr>
      <vt:lpstr>Analysis of Problem Statement (contd...)</vt:lpstr>
      <vt:lpstr>Innovation or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Microsoft account</cp:lastModifiedBy>
  <cp:revision>53</cp:revision>
  <dcterms:modified xsi:type="dcterms:W3CDTF">2025-08-12T19:40:37Z</dcterms:modified>
</cp:coreProperties>
</file>